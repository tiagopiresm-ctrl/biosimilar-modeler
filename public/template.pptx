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HVfXw/TRRAd7puiI+y6WvSR+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12D39C-8665-442B-B3E5-61FEFC9E891A}">
  <a:tblStyle styleId="{3312D39C-8665-442B-B3E5-61FEFC9E89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1645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MOLECULE ASSESSMENT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23774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Ustekinumab (Stelara®)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914400" y="3200400"/>
            <a:ext cx="2743200" cy="27432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Biosimilar Opportunity Assessment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9601200" y="5760720"/>
            <a:ext cx="2011680" cy="365760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601200" y="57790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Ustekinumab (Stelara®) — Executive Summary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48640" y="914400"/>
            <a:ext cx="1645920" cy="91440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85800" y="987552"/>
            <a:ext cx="13716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194560" y="914400"/>
            <a:ext cx="94183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2377440" y="969264"/>
            <a:ext cx="9052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Ustekinumab is a fully human IgG1κ monoclonal antibody.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Targets the shared p40 subunit of interleukin-12 (IL-12) and interleukin-23 (IL-23).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Available as subcutaneous injection (45 mg / 90 mg PFS) and IV infusion (130 mg vial).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First-in-class IL-12/23 inhibitor; differentiated MOA vs. TNF and IL-17 agents.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856232"/>
            <a:ext cx="1645920" cy="54864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85800" y="1929384"/>
            <a:ext cx="1371600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Indications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2194560" y="1856232"/>
            <a:ext cx="94183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2377440" y="1911096"/>
            <a:ext cx="9052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Moderate-to-severe plaque psoriasis (adults &amp; adolescents ≥12 yrs)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Active psoriatic arthritis; moderate-to-severe Crohn's disease; ulcerative colitis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48640" y="2432304"/>
            <a:ext cx="1645920" cy="91440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505456"/>
            <a:ext cx="13716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MOA /</a:t>
            </a:r>
            <a:b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2194560" y="2432304"/>
            <a:ext cx="94183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377440" y="2487168"/>
            <a:ext cx="9052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Binds IL-12/IL-23 p40 subunit, blocking receptor interaction on T cells and NK cells.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Inhibits Th1 and Th17 differentiation, reducing inflammatory cytokine cascades.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Sustained efficacy demonstrated through 5-year PHOENIX 1/2 extension data.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Favorable safety profile: lower infection risk vs. TNF inhibitors in network meta-analyses.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48640" y="3374136"/>
            <a:ext cx="1645920" cy="91440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85800" y="3447288"/>
            <a:ext cx="13716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Data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2194560" y="3374136"/>
            <a:ext cx="94183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377440" y="3429000"/>
            <a:ext cx="9052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PHOENIX 1/2: PASI 75 response 67–72% at Week 12 (vs. 3–4% placebo).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Durable response: 76% of responders maintained PASI 75 through Year 5.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UNIFI (UC): Clinical remission 44% vs. 24% placebo at Week 44 maintenance.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Head-to-head vs. etanercept (ACCEPT): Superior PASI 75 at Week 12 (68% vs. 57%).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4315968"/>
            <a:ext cx="1645920" cy="73152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85800" y="4389120"/>
            <a:ext cx="13716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Route /</a:t>
            </a:r>
            <a:b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Regimen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2194560" y="4315968"/>
            <a:ext cx="941832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377440" y="4370832"/>
            <a:ext cx="9052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SC injection: 45 mg (body weight ≤100 kg) or 90 mg (&gt;100 kg) at Wk 0, 4, then q12w.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IV induction for Crohn's/UC: weight-based IV dose at Wk 0, then SC q8w maintenance.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Prefilled syringe; no autoinjector for originator (biosimilar device opportunity).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548640" y="5074920"/>
            <a:ext cx="1645920" cy="54864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85800" y="5148072"/>
            <a:ext cx="1371600" cy="4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b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2194560" y="5074920"/>
            <a:ext cx="94183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377440" y="5129784"/>
            <a:ext cx="9052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LOE in 2024 (EU) and 2025 (US) creates near-term market entry window.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Strong alignment with Mabxience mAb manufacturing platform and SC delivery capabilities.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Ustekinumab (Stelara®) — Molecule Snapshot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48640" y="84124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Requesting endorsement to proceed with biosimilar development — high-value opportunity with near-term LOE window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48640" y="1051560"/>
            <a:ext cx="521208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85800" y="10698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Main Characteristics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85800" y="1463040"/>
            <a:ext cx="36576" cy="201168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68680" y="148132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Innovator company: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2880360" y="148132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Janssen (Johnson &amp; Johnson)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68680" y="17647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Approvals: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880360" y="176479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US: 2009   EU: 2009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868680" y="204825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LOE US: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880360" y="204825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January 2025   |   LOE EU: January 2024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68680" y="233172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Current indications: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2880360" y="233172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Psoriasis; PsA; Crohn’s disease; UC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68680" y="261518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Future indications: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2880360" y="26151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Pediatric psoriasis (under investigation)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68680" y="289864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Target: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2880360" y="28986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IL-12/IL-23 p40 subunit   |   Cell line: CHO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868680" y="318211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ROA: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2880360" y="318211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 injection / IV infusion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868680" y="3520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PsA: Psoriatic Arthritis; UC: Ulcerative Colitis; SC: Subcutaneous; IV: Intravenous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126480" y="105156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263640" y="106984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High Level Timeline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132320" y="1417320"/>
            <a:ext cx="701040" cy="20116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7132320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7833360" y="1417320"/>
            <a:ext cx="701040" cy="201168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7833360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534399" y="1417320"/>
            <a:ext cx="701040" cy="20116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8534399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9235440" y="1417320"/>
            <a:ext cx="701040" cy="201168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9235440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9936480" y="1417320"/>
            <a:ext cx="701040" cy="20116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9936480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10637520" y="1417320"/>
            <a:ext cx="701040" cy="201168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0637520" y="1426464"/>
            <a:ext cx="70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126480" y="169164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Analytical &amp;</a:t>
            </a:r>
            <a:b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Process Dev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132320" y="1728216"/>
            <a:ext cx="1051560" cy="201168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6126480" y="20391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Scale-up &amp;</a:t>
            </a:r>
            <a:b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GMP</a:t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833360" y="2075688"/>
            <a:ext cx="1051560" cy="201168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126480" y="2386584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8534399" y="2423160"/>
            <a:ext cx="841248" cy="201168"/>
          </a:xfrm>
          <a:prstGeom prst="roundRect">
            <a:avLst>
              <a:gd fmla="val 16667" name="adj"/>
            </a:avLst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6126480" y="273405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8183879" y="2770632"/>
            <a:ext cx="1402080" cy="201168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126480" y="308152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Regulatory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9235440" y="3118104"/>
            <a:ext cx="1051560" cy="201168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8138159" y="3364992"/>
            <a:ext cx="91440" cy="91440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7955279" y="3456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SA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9189719" y="3364992"/>
            <a:ext cx="91440" cy="91440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9006840" y="3456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CTA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10030967" y="3364992"/>
            <a:ext cx="91440" cy="91440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9848088" y="3456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EMA</a:t>
            </a:r>
            <a:b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Appr.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0241280" y="3364992"/>
            <a:ext cx="91440" cy="91440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10058400" y="3456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FDA</a:t>
            </a:r>
            <a:b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Appr.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7552944" y="1645920"/>
            <a:ext cx="9144" cy="1645920"/>
          </a:xfrm>
          <a:prstGeom prst="rect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7324344" y="3584448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EU LoE</a:t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7833360" y="1645920"/>
            <a:ext cx="9144" cy="1645920"/>
          </a:xfrm>
          <a:prstGeom prst="rect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7604760" y="3584448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US LoE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548640" y="3794760"/>
            <a:ext cx="521208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685800" y="38130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Market Outlook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685800" y="416052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Global sales, M$: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3291840" y="416052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10,900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685800" y="436168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Global in-market price, $: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3291840" y="436168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4,178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685800" y="456285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85% Discounted price¹, $/unit: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3291840" y="4562856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3,551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685800" y="476402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BS competitor landscape: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3291840" y="476402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 competitors; 1 approved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685800" y="5010912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Preliminary mAbx sales forecast, M$</a:t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685800" y="5448300"/>
            <a:ext cx="502920" cy="381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685800" y="532942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1261872" y="5349240"/>
            <a:ext cx="502920" cy="13716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1261872" y="523036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1837943" y="5242560"/>
            <a:ext cx="502920" cy="24384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1837943" y="512368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320</a:t>
            </a: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2414016" y="5120640"/>
            <a:ext cx="502920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2414016" y="500176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480</a:t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2990088" y="5143500"/>
            <a:ext cx="502920" cy="3429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2990088" y="502462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211" name="Google Shape;211;p3"/>
          <p:cNvSpPr/>
          <p:nvPr/>
        </p:nvSpPr>
        <p:spPr>
          <a:xfrm>
            <a:off x="3566160" y="5166360"/>
            <a:ext cx="502920" cy="32004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3566160" y="504748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420</a:t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4142232" y="5196840"/>
            <a:ext cx="502920" cy="28956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4142232" y="507796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380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4718304" y="5219700"/>
            <a:ext cx="502920" cy="2667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4718304" y="510082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217" name="Google Shape;217;p3"/>
          <p:cNvSpPr txBox="1"/>
          <p:nvPr/>
        </p:nvSpPr>
        <p:spPr>
          <a:xfrm>
            <a:off x="685800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218" name="Google Shape;218;p3"/>
          <p:cNvSpPr txBox="1"/>
          <p:nvPr/>
        </p:nvSpPr>
        <p:spPr>
          <a:xfrm>
            <a:off x="1261872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219" name="Google Shape;219;p3"/>
          <p:cNvSpPr txBox="1"/>
          <p:nvPr/>
        </p:nvSpPr>
        <p:spPr>
          <a:xfrm>
            <a:off x="1837943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/>
          </a:p>
        </p:txBody>
      </p:sp>
      <p:sp>
        <p:nvSpPr>
          <p:cNvPr id="220" name="Google Shape;220;p3"/>
          <p:cNvSpPr txBox="1"/>
          <p:nvPr/>
        </p:nvSpPr>
        <p:spPr>
          <a:xfrm>
            <a:off x="2414016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2031</a:t>
            </a:r>
            <a:endParaRPr/>
          </a:p>
        </p:txBody>
      </p:sp>
      <p:sp>
        <p:nvSpPr>
          <p:cNvPr id="221" name="Google Shape;221;p3"/>
          <p:cNvSpPr txBox="1"/>
          <p:nvPr/>
        </p:nvSpPr>
        <p:spPr>
          <a:xfrm>
            <a:off x="2990088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2032</a:t>
            </a:r>
            <a:endParaRPr/>
          </a:p>
        </p:txBody>
      </p:sp>
      <p:sp>
        <p:nvSpPr>
          <p:cNvPr id="222" name="Google Shape;222;p3"/>
          <p:cNvSpPr txBox="1"/>
          <p:nvPr/>
        </p:nvSpPr>
        <p:spPr>
          <a:xfrm>
            <a:off x="3566160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2033</a:t>
            </a:r>
            <a:endParaRPr/>
          </a:p>
        </p:txBody>
      </p:sp>
      <p:sp>
        <p:nvSpPr>
          <p:cNvPr id="223" name="Google Shape;223;p3"/>
          <p:cNvSpPr txBox="1"/>
          <p:nvPr/>
        </p:nvSpPr>
        <p:spPr>
          <a:xfrm>
            <a:off x="4142232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2034</a:t>
            </a:r>
            <a:endParaRPr/>
          </a:p>
        </p:txBody>
      </p:sp>
      <p:sp>
        <p:nvSpPr>
          <p:cNvPr id="224" name="Google Shape;224;p3"/>
          <p:cNvSpPr txBox="1"/>
          <p:nvPr/>
        </p:nvSpPr>
        <p:spPr>
          <a:xfrm>
            <a:off x="4718304" y="5495544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2035</a:t>
            </a:r>
            <a:endParaRPr/>
          </a:p>
        </p:txBody>
      </p:sp>
      <p:sp>
        <p:nvSpPr>
          <p:cNvPr id="225" name="Google Shape;225;p3"/>
          <p:cNvSpPr txBox="1"/>
          <p:nvPr/>
        </p:nvSpPr>
        <p:spPr>
          <a:xfrm>
            <a:off x="685800" y="5623560"/>
            <a:ext cx="3200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Preliminary Volume forecast, k units</a:t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685800" y="6111372"/>
            <a:ext cx="502920" cy="33395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 txBox="1"/>
          <p:nvPr/>
        </p:nvSpPr>
        <p:spPr>
          <a:xfrm>
            <a:off x="685800" y="5992500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1261872" y="6025100"/>
            <a:ext cx="502920" cy="119667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 txBox="1"/>
          <p:nvPr/>
        </p:nvSpPr>
        <p:spPr>
          <a:xfrm>
            <a:off x="1261872" y="590622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1837943" y="5930480"/>
            <a:ext cx="502920" cy="214287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1837943" y="5811608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2414016" y="5824728"/>
            <a:ext cx="502920" cy="32004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 txBox="1"/>
          <p:nvPr/>
        </p:nvSpPr>
        <p:spPr>
          <a:xfrm>
            <a:off x="2414016" y="5705856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2990088" y="5844208"/>
            <a:ext cx="502920" cy="300559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2990088" y="5725336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3566160" y="5863689"/>
            <a:ext cx="502920" cy="28107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3566160" y="5744817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/>
          </a:p>
        </p:txBody>
      </p:sp>
      <p:sp>
        <p:nvSpPr>
          <p:cNvPr id="238" name="Google Shape;238;p3"/>
          <p:cNvSpPr/>
          <p:nvPr/>
        </p:nvSpPr>
        <p:spPr>
          <a:xfrm>
            <a:off x="4142232" y="5891518"/>
            <a:ext cx="502920" cy="253249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"/>
          <p:cNvSpPr txBox="1"/>
          <p:nvPr/>
        </p:nvSpPr>
        <p:spPr>
          <a:xfrm>
            <a:off x="4142232" y="5772646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4718304" y="5910999"/>
            <a:ext cx="502920" cy="23376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"/>
          <p:cNvSpPr txBox="1"/>
          <p:nvPr/>
        </p:nvSpPr>
        <p:spPr>
          <a:xfrm>
            <a:off x="4718304" y="5792127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242" name="Google Shape;242;p3"/>
          <p:cNvSpPr txBox="1"/>
          <p:nvPr/>
        </p:nvSpPr>
        <p:spPr>
          <a:xfrm>
            <a:off x="685800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1261872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244" name="Google Shape;244;p3"/>
          <p:cNvSpPr txBox="1"/>
          <p:nvPr/>
        </p:nvSpPr>
        <p:spPr>
          <a:xfrm>
            <a:off x="1837943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/>
          </a:p>
        </p:txBody>
      </p:sp>
      <p:sp>
        <p:nvSpPr>
          <p:cNvPr id="245" name="Google Shape;245;p3"/>
          <p:cNvSpPr txBox="1"/>
          <p:nvPr/>
        </p:nvSpPr>
        <p:spPr>
          <a:xfrm>
            <a:off x="2414016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2031</a:t>
            </a:r>
            <a:endParaRPr/>
          </a:p>
        </p:txBody>
      </p:sp>
      <p:sp>
        <p:nvSpPr>
          <p:cNvPr id="246" name="Google Shape;246;p3"/>
          <p:cNvSpPr txBox="1"/>
          <p:nvPr/>
        </p:nvSpPr>
        <p:spPr>
          <a:xfrm>
            <a:off x="2990088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2032</a:t>
            </a:r>
            <a:endParaRPr/>
          </a:p>
        </p:txBody>
      </p:sp>
      <p:sp>
        <p:nvSpPr>
          <p:cNvPr id="247" name="Google Shape;247;p3"/>
          <p:cNvSpPr txBox="1"/>
          <p:nvPr/>
        </p:nvSpPr>
        <p:spPr>
          <a:xfrm>
            <a:off x="3566160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2033</a:t>
            </a:r>
            <a:endParaRPr/>
          </a:p>
        </p:txBody>
      </p:sp>
      <p:sp>
        <p:nvSpPr>
          <p:cNvPr id="248" name="Google Shape;248;p3"/>
          <p:cNvSpPr txBox="1"/>
          <p:nvPr/>
        </p:nvSpPr>
        <p:spPr>
          <a:xfrm>
            <a:off x="4142232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2034</a:t>
            </a:r>
            <a:endParaRPr/>
          </a:p>
        </p:txBody>
      </p:sp>
      <p:sp>
        <p:nvSpPr>
          <p:cNvPr id="249" name="Google Shape;249;p3"/>
          <p:cNvSpPr txBox="1"/>
          <p:nvPr/>
        </p:nvSpPr>
        <p:spPr>
          <a:xfrm>
            <a:off x="4718304" y="615391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2035</a:t>
            </a:r>
            <a:endParaRPr/>
          </a:p>
        </p:txBody>
      </p:sp>
      <p:sp>
        <p:nvSpPr>
          <p:cNvPr id="250" name="Google Shape;250;p3"/>
          <p:cNvSpPr/>
          <p:nvPr/>
        </p:nvSpPr>
        <p:spPr>
          <a:xfrm>
            <a:off x="6126480" y="379476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"/>
          <p:cNvSpPr txBox="1"/>
          <p:nvPr/>
        </p:nvSpPr>
        <p:spPr>
          <a:xfrm>
            <a:off x="6263640" y="381304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Financials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6263640" y="416052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Program costs: $135M</a:t>
            </a:r>
            <a:endParaRPr/>
          </a:p>
        </p:txBody>
      </p:sp>
      <p:sp>
        <p:nvSpPr>
          <p:cNvPr id="253" name="Google Shape;253;p3"/>
          <p:cNvSpPr/>
          <p:nvPr/>
        </p:nvSpPr>
        <p:spPr>
          <a:xfrm>
            <a:off x="6263640" y="4389120"/>
            <a:ext cx="2048933" cy="22860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"/>
          <p:cNvSpPr txBox="1"/>
          <p:nvPr/>
        </p:nvSpPr>
        <p:spPr>
          <a:xfrm>
            <a:off x="6281927" y="4398264"/>
            <a:ext cx="2012357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/>
          </a:p>
        </p:txBody>
      </p:sp>
      <p:sp>
        <p:nvSpPr>
          <p:cNvPr id="255" name="Google Shape;255;p3"/>
          <p:cNvSpPr txBox="1"/>
          <p:nvPr/>
        </p:nvSpPr>
        <p:spPr>
          <a:xfrm>
            <a:off x="6281927" y="4498848"/>
            <a:ext cx="2012357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$55M</a:t>
            </a:r>
            <a:endParaRPr/>
          </a:p>
        </p:txBody>
      </p:sp>
      <p:sp>
        <p:nvSpPr>
          <p:cNvPr id="256" name="Google Shape;256;p3"/>
          <p:cNvSpPr/>
          <p:nvPr/>
        </p:nvSpPr>
        <p:spPr>
          <a:xfrm>
            <a:off x="8312573" y="4389120"/>
            <a:ext cx="1303866" cy="2286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"/>
          <p:cNvSpPr txBox="1"/>
          <p:nvPr/>
        </p:nvSpPr>
        <p:spPr>
          <a:xfrm>
            <a:off x="8330861" y="4398264"/>
            <a:ext cx="126729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/>
          </a:p>
        </p:txBody>
      </p:sp>
      <p:sp>
        <p:nvSpPr>
          <p:cNvPr id="258" name="Google Shape;258;p3"/>
          <p:cNvSpPr txBox="1"/>
          <p:nvPr/>
        </p:nvSpPr>
        <p:spPr>
          <a:xfrm>
            <a:off x="8330861" y="4498848"/>
            <a:ext cx="126729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$35M</a:t>
            </a:r>
            <a:endParaRPr/>
          </a:p>
        </p:txBody>
      </p:sp>
      <p:sp>
        <p:nvSpPr>
          <p:cNvPr id="259" name="Google Shape;259;p3"/>
          <p:cNvSpPr/>
          <p:nvPr/>
        </p:nvSpPr>
        <p:spPr>
          <a:xfrm>
            <a:off x="9616440" y="4389120"/>
            <a:ext cx="670560" cy="228600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"/>
          <p:cNvSpPr txBox="1"/>
          <p:nvPr/>
        </p:nvSpPr>
        <p:spPr>
          <a:xfrm>
            <a:off x="9634727" y="4398264"/>
            <a:ext cx="63398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endParaRPr/>
          </a:p>
        </p:txBody>
      </p:sp>
      <p:sp>
        <p:nvSpPr>
          <p:cNvPr id="261" name="Google Shape;261;p3"/>
          <p:cNvSpPr txBox="1"/>
          <p:nvPr/>
        </p:nvSpPr>
        <p:spPr>
          <a:xfrm>
            <a:off x="9634727" y="4498848"/>
            <a:ext cx="63398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$18M</a:t>
            </a:r>
            <a:endParaRPr/>
          </a:p>
        </p:txBody>
      </p:sp>
      <p:sp>
        <p:nvSpPr>
          <p:cNvPr id="262" name="Google Shape;262;p3"/>
          <p:cNvSpPr/>
          <p:nvPr/>
        </p:nvSpPr>
        <p:spPr>
          <a:xfrm>
            <a:off x="10286999" y="4389120"/>
            <a:ext cx="558800" cy="228600"/>
          </a:xfrm>
          <a:prstGeom prst="rect">
            <a:avLst/>
          </a:prstGeom>
          <a:solidFill>
            <a:srgbClr val="7FBF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"/>
          <p:cNvSpPr txBox="1"/>
          <p:nvPr/>
        </p:nvSpPr>
        <p:spPr>
          <a:xfrm>
            <a:off x="10305287" y="4398264"/>
            <a:ext cx="5222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</a:t>
            </a:r>
            <a:endParaRPr/>
          </a:p>
        </p:txBody>
      </p:sp>
      <p:sp>
        <p:nvSpPr>
          <p:cNvPr id="264" name="Google Shape;264;p3"/>
          <p:cNvSpPr txBox="1"/>
          <p:nvPr/>
        </p:nvSpPr>
        <p:spPr>
          <a:xfrm>
            <a:off x="10305287" y="4498848"/>
            <a:ext cx="52222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$15M</a:t>
            </a:r>
            <a:endParaRPr/>
          </a:p>
        </p:txBody>
      </p:sp>
      <p:sp>
        <p:nvSpPr>
          <p:cNvPr id="265" name="Google Shape;265;p3"/>
          <p:cNvSpPr/>
          <p:nvPr/>
        </p:nvSpPr>
        <p:spPr>
          <a:xfrm>
            <a:off x="10845799" y="4389120"/>
            <a:ext cx="447040" cy="228600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"/>
          <p:cNvSpPr txBox="1"/>
          <p:nvPr/>
        </p:nvSpPr>
        <p:spPr>
          <a:xfrm>
            <a:off x="10864087" y="4398264"/>
            <a:ext cx="4104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/>
          </a:p>
        </p:txBody>
      </p:sp>
      <p:sp>
        <p:nvSpPr>
          <p:cNvPr id="267" name="Google Shape;267;p3"/>
          <p:cNvSpPr txBox="1"/>
          <p:nvPr/>
        </p:nvSpPr>
        <p:spPr>
          <a:xfrm>
            <a:off x="10864087" y="4498848"/>
            <a:ext cx="4104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$12M</a:t>
            </a:r>
            <a:endParaRPr/>
          </a:p>
        </p:txBody>
      </p:sp>
      <p:sp>
        <p:nvSpPr>
          <p:cNvPr id="268" name="Google Shape;268;p3"/>
          <p:cNvSpPr txBox="1"/>
          <p:nvPr/>
        </p:nvSpPr>
        <p:spPr>
          <a:xfrm>
            <a:off x="6263640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■ Clinical $55M</a:t>
            </a:r>
            <a:endParaRPr/>
          </a:p>
        </p:txBody>
      </p:sp>
      <p:sp>
        <p:nvSpPr>
          <p:cNvPr id="269" name="Google Shape;269;p3"/>
          <p:cNvSpPr txBox="1"/>
          <p:nvPr/>
        </p:nvSpPr>
        <p:spPr>
          <a:xfrm>
            <a:off x="7269479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■ Development $35M</a:t>
            </a:r>
            <a:endParaRPr/>
          </a:p>
        </p:txBody>
      </p:sp>
      <p:sp>
        <p:nvSpPr>
          <p:cNvPr id="270" name="Google Shape;270;p3"/>
          <p:cNvSpPr txBox="1"/>
          <p:nvPr/>
        </p:nvSpPr>
        <p:spPr>
          <a:xfrm>
            <a:off x="8275319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■ Regulatory $18M</a:t>
            </a:r>
            <a:endParaRPr/>
          </a:p>
        </p:txBody>
      </p:sp>
      <p:sp>
        <p:nvSpPr>
          <p:cNvPr id="271" name="Google Shape;271;p3"/>
          <p:cNvSpPr txBox="1"/>
          <p:nvPr/>
        </p:nvSpPr>
        <p:spPr>
          <a:xfrm>
            <a:off x="9281159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7FBFDB"/>
                </a:solidFill>
                <a:latin typeface="Calibri"/>
                <a:ea typeface="Calibri"/>
                <a:cs typeface="Calibri"/>
                <a:sym typeface="Calibri"/>
              </a:rPr>
              <a:t>■ Production $15M</a:t>
            </a:r>
            <a:endParaRPr/>
          </a:p>
        </p:txBody>
      </p:sp>
      <p:sp>
        <p:nvSpPr>
          <p:cNvPr id="272" name="Google Shape;272;p3"/>
          <p:cNvSpPr txBox="1"/>
          <p:nvPr/>
        </p:nvSpPr>
        <p:spPr>
          <a:xfrm>
            <a:off x="10286999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■ Other $12M</a:t>
            </a:r>
            <a:endParaRPr/>
          </a:p>
        </p:txBody>
      </p:sp>
      <p:sp>
        <p:nvSpPr>
          <p:cNvPr id="273" name="Google Shape;273;p3"/>
          <p:cNvSpPr/>
          <p:nvPr/>
        </p:nvSpPr>
        <p:spPr>
          <a:xfrm>
            <a:off x="6126480" y="484632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"/>
          <p:cNvSpPr txBox="1"/>
          <p:nvPr/>
        </p:nvSpPr>
        <p:spPr>
          <a:xfrm>
            <a:off x="6263640" y="4864607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Program Attractiveness</a:t>
            </a:r>
            <a:endParaRPr/>
          </a:p>
        </p:txBody>
      </p:sp>
      <p:sp>
        <p:nvSpPr>
          <p:cNvPr id="275" name="Google Shape;275;p3"/>
          <p:cNvSpPr txBox="1"/>
          <p:nvPr/>
        </p:nvSpPr>
        <p:spPr>
          <a:xfrm>
            <a:off x="6263640" y="52120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NPV**:</a:t>
            </a:r>
            <a:endParaRPr/>
          </a:p>
        </p:txBody>
      </p:sp>
      <p:sp>
        <p:nvSpPr>
          <p:cNvPr id="276" name="Google Shape;276;p3"/>
          <p:cNvSpPr txBox="1"/>
          <p:nvPr/>
        </p:nvSpPr>
        <p:spPr>
          <a:xfrm>
            <a:off x="6949440" y="5212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$385M</a:t>
            </a:r>
            <a:endParaRPr/>
          </a:p>
        </p:txBody>
      </p:sp>
      <p:sp>
        <p:nvSpPr>
          <p:cNvPr id="277" name="Google Shape;277;p3"/>
          <p:cNvSpPr txBox="1"/>
          <p:nvPr/>
        </p:nvSpPr>
        <p:spPr>
          <a:xfrm>
            <a:off x="7818119" y="52120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Payback:</a:t>
            </a:r>
            <a:endParaRPr/>
          </a:p>
        </p:txBody>
      </p:sp>
      <p:sp>
        <p:nvSpPr>
          <p:cNvPr id="278" name="Google Shape;278;p3"/>
          <p:cNvSpPr txBox="1"/>
          <p:nvPr/>
        </p:nvSpPr>
        <p:spPr>
          <a:xfrm>
            <a:off x="8503919" y="5212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4.8 yrs</a:t>
            </a:r>
            <a:endParaRPr/>
          </a:p>
        </p:txBody>
      </p:sp>
      <p:sp>
        <p:nvSpPr>
          <p:cNvPr id="279" name="Google Shape;279;p3"/>
          <p:cNvSpPr txBox="1"/>
          <p:nvPr/>
        </p:nvSpPr>
        <p:spPr>
          <a:xfrm>
            <a:off x="9372600" y="52120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IRR:</a:t>
            </a:r>
            <a:endParaRPr/>
          </a:p>
        </p:txBody>
      </p:sp>
      <p:sp>
        <p:nvSpPr>
          <p:cNvPr id="280" name="Google Shape;280;p3"/>
          <p:cNvSpPr txBox="1"/>
          <p:nvPr/>
        </p:nvSpPr>
        <p:spPr>
          <a:xfrm>
            <a:off x="10058400" y="52120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6263640" y="5440680"/>
            <a:ext cx="3657600" cy="201168"/>
          </a:xfrm>
          <a:prstGeom prst="roundRect">
            <a:avLst>
              <a:gd fmla="val 16667" name="adj"/>
            </a:avLst>
          </a:prstGeom>
          <a:solidFill>
            <a:srgbClr val="FFFFE0"/>
          </a:solidFill>
          <a:ln cap="flat" cmpd="sng" w="9525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"/>
          <p:cNvSpPr txBox="1"/>
          <p:nvPr/>
        </p:nvSpPr>
        <p:spPr>
          <a:xfrm>
            <a:off x="6309360" y="544982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856A04"/>
                </a:solidFill>
                <a:latin typeface="Calibri"/>
                <a:ea typeface="Calibri"/>
                <a:cs typeface="Calibri"/>
                <a:sym typeface="Calibri"/>
              </a:rPr>
              <a:t>PRELIMINARY — Further analysis required to finetune assessment</a:t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10058400" y="5440680"/>
            <a:ext cx="1554480" cy="201168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"/>
          <p:cNvSpPr txBox="1"/>
          <p:nvPr/>
        </p:nvSpPr>
        <p:spPr>
          <a:xfrm>
            <a:off x="10058400" y="5449824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PROCEED  |  4.00</a:t>
            </a:r>
            <a:endParaRPr/>
          </a:p>
        </p:txBody>
      </p:sp>
      <p:sp>
        <p:nvSpPr>
          <p:cNvPr id="285" name="Google Shape;285;p3"/>
          <p:cNvSpPr txBox="1"/>
          <p:nvPr/>
        </p:nvSpPr>
        <p:spPr>
          <a:xfrm>
            <a:off x="548640" y="6291072"/>
            <a:ext cx="11064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1. 85% of price on LOE year. / ** NPV from signature till 10-yr sales / Source: IQVIA MAT Q4 2025</a:t>
            </a:r>
            <a:endParaRPr/>
          </a:p>
        </p:txBody>
      </p:sp>
      <p:sp>
        <p:nvSpPr>
          <p:cNvPr id="286" name="Google Shape;286;p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Overview: Ustekinumab (Stelara®)</a:t>
            </a: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548640" y="1051560"/>
            <a:ext cx="256032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 txBox="1"/>
          <p:nvPr/>
        </p:nvSpPr>
        <p:spPr>
          <a:xfrm>
            <a:off x="640080" y="1161288"/>
            <a:ext cx="2377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$10.9B</a:t>
            </a:r>
            <a:endParaRPr/>
          </a:p>
        </p:txBody>
      </p:sp>
      <p:sp>
        <p:nvSpPr>
          <p:cNvPr id="297" name="Google Shape;297;p4"/>
          <p:cNvSpPr txBox="1"/>
          <p:nvPr/>
        </p:nvSpPr>
        <p:spPr>
          <a:xfrm>
            <a:off x="640080" y="1554480"/>
            <a:ext cx="23774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Global Market Size</a:t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3337560" y="1051560"/>
            <a:ext cx="256032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 txBox="1"/>
          <p:nvPr/>
        </p:nvSpPr>
        <p:spPr>
          <a:xfrm>
            <a:off x="3429000" y="1161288"/>
            <a:ext cx="2377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-3.2%</a:t>
            </a:r>
            <a:endParaRPr/>
          </a:p>
        </p:txBody>
      </p:sp>
      <p:sp>
        <p:nvSpPr>
          <p:cNvPr id="300" name="Google Shape;300;p4"/>
          <p:cNvSpPr txBox="1"/>
          <p:nvPr/>
        </p:nvSpPr>
        <p:spPr>
          <a:xfrm>
            <a:off x="3429000" y="1554480"/>
            <a:ext cx="23774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5-Year CAGR</a:t>
            </a:r>
            <a:endParaRPr/>
          </a:p>
        </p:txBody>
      </p:sp>
      <p:sp>
        <p:nvSpPr>
          <p:cNvPr id="301" name="Google Shape;301;p4"/>
          <p:cNvSpPr/>
          <p:nvPr/>
        </p:nvSpPr>
        <p:spPr>
          <a:xfrm>
            <a:off x="6126479" y="1051560"/>
            <a:ext cx="256032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6217919" y="1161288"/>
            <a:ext cx="2377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/>
          </a:p>
        </p:txBody>
      </p:sp>
      <p:sp>
        <p:nvSpPr>
          <p:cNvPr id="303" name="Google Shape;303;p4"/>
          <p:cNvSpPr txBox="1"/>
          <p:nvPr/>
        </p:nvSpPr>
        <p:spPr>
          <a:xfrm>
            <a:off x="6217919" y="1554480"/>
            <a:ext cx="23774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Biosimilar Penetration %</a:t>
            </a:r>
            <a:endParaRPr/>
          </a:p>
        </p:txBody>
      </p:sp>
      <p:sp>
        <p:nvSpPr>
          <p:cNvPr id="304" name="Google Shape;304;p4"/>
          <p:cNvSpPr/>
          <p:nvPr/>
        </p:nvSpPr>
        <p:spPr>
          <a:xfrm>
            <a:off x="8915399" y="1051560"/>
            <a:ext cx="256032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 txBox="1"/>
          <p:nvPr/>
        </p:nvSpPr>
        <p:spPr>
          <a:xfrm>
            <a:off x="9006839" y="1161288"/>
            <a:ext cx="2377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Declining</a:t>
            </a:r>
            <a:endParaRPr/>
          </a:p>
        </p:txBody>
      </p:sp>
      <p:sp>
        <p:nvSpPr>
          <p:cNvPr id="306" name="Google Shape;306;p4"/>
          <p:cNvSpPr txBox="1"/>
          <p:nvPr/>
        </p:nvSpPr>
        <p:spPr>
          <a:xfrm>
            <a:off x="9006839" y="1554480"/>
            <a:ext cx="23774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Revenue Trend</a:t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>
            <a:off x="548640" y="2148840"/>
            <a:ext cx="530352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685800" y="216712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Originator Profile</a:t>
            </a:r>
            <a:endParaRPr/>
          </a:p>
        </p:txBody>
      </p:sp>
      <p:sp>
        <p:nvSpPr>
          <p:cNvPr id="309" name="Google Shape;309;p4"/>
          <p:cNvSpPr txBox="1"/>
          <p:nvPr/>
        </p:nvSpPr>
        <p:spPr>
          <a:xfrm>
            <a:off x="685800" y="2651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Originator Company:</a:t>
            </a:r>
            <a:endParaRPr/>
          </a:p>
        </p:txBody>
      </p:sp>
      <p:sp>
        <p:nvSpPr>
          <p:cNvPr id="310" name="Google Shape;310;p4"/>
          <p:cNvSpPr txBox="1"/>
          <p:nvPr/>
        </p:nvSpPr>
        <p:spPr>
          <a:xfrm>
            <a:off x="3017520" y="26517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Janssen (Johnson &amp; Johnson)</a:t>
            </a:r>
            <a:endParaRPr/>
          </a:p>
        </p:txBody>
      </p:sp>
      <p:sp>
        <p:nvSpPr>
          <p:cNvPr id="311" name="Google Shape;311;p4"/>
          <p:cNvSpPr txBox="1"/>
          <p:nvPr/>
        </p:nvSpPr>
        <p:spPr>
          <a:xfrm>
            <a:off x="685800" y="292607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Brand Name:</a:t>
            </a:r>
            <a:endParaRPr/>
          </a:p>
        </p:txBody>
      </p:sp>
      <p:sp>
        <p:nvSpPr>
          <p:cNvPr id="312" name="Google Shape;312;p4"/>
          <p:cNvSpPr txBox="1"/>
          <p:nvPr/>
        </p:nvSpPr>
        <p:spPr>
          <a:xfrm>
            <a:off x="3017520" y="292607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Stelara®</a:t>
            </a:r>
            <a:endParaRPr/>
          </a:p>
        </p:txBody>
      </p:sp>
      <p:sp>
        <p:nvSpPr>
          <p:cNvPr id="313" name="Google Shape;313;p4"/>
          <p:cNvSpPr txBox="1"/>
          <p:nvPr/>
        </p:nvSpPr>
        <p:spPr>
          <a:xfrm>
            <a:off x="685800" y="32004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Molecule Type:</a:t>
            </a:r>
            <a:endParaRPr/>
          </a:p>
        </p:txBody>
      </p:sp>
      <p:sp>
        <p:nvSpPr>
          <p:cNvPr id="314" name="Google Shape;314;p4"/>
          <p:cNvSpPr txBox="1"/>
          <p:nvPr/>
        </p:nvSpPr>
        <p:spPr>
          <a:xfrm>
            <a:off x="3017520" y="32004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Fully human IgG1κ monoclonal antibody</a:t>
            </a:r>
            <a:endParaRPr/>
          </a:p>
        </p:txBody>
      </p:sp>
      <p:sp>
        <p:nvSpPr>
          <p:cNvPr id="315" name="Google Shape;315;p4"/>
          <p:cNvSpPr txBox="1"/>
          <p:nvPr/>
        </p:nvSpPr>
        <p:spPr>
          <a:xfrm>
            <a:off x="685800" y="34747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Route of Administration:</a:t>
            </a:r>
            <a:endParaRPr/>
          </a:p>
        </p:txBody>
      </p:sp>
      <p:sp>
        <p:nvSpPr>
          <p:cNvPr id="316" name="Google Shape;316;p4"/>
          <p:cNvSpPr txBox="1"/>
          <p:nvPr/>
        </p:nvSpPr>
        <p:spPr>
          <a:xfrm>
            <a:off x="3017520" y="34747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 injection / IV infusion</a:t>
            </a:r>
            <a:endParaRPr/>
          </a:p>
        </p:txBody>
      </p:sp>
      <p:sp>
        <p:nvSpPr>
          <p:cNvPr id="317" name="Google Shape;317;p4"/>
          <p:cNvSpPr txBox="1"/>
          <p:nvPr/>
        </p:nvSpPr>
        <p:spPr>
          <a:xfrm>
            <a:off x="685800" y="37490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LOE Date - US:</a:t>
            </a:r>
            <a:endParaRPr/>
          </a:p>
        </p:txBody>
      </p:sp>
      <p:sp>
        <p:nvSpPr>
          <p:cNvPr id="318" name="Google Shape;318;p4"/>
          <p:cNvSpPr txBox="1"/>
          <p:nvPr/>
        </p:nvSpPr>
        <p:spPr>
          <a:xfrm>
            <a:off x="3017520" y="374903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January 2025</a:t>
            </a:r>
            <a:endParaRPr/>
          </a:p>
        </p:txBody>
      </p:sp>
      <p:sp>
        <p:nvSpPr>
          <p:cNvPr id="319" name="Google Shape;319;p4"/>
          <p:cNvSpPr txBox="1"/>
          <p:nvPr/>
        </p:nvSpPr>
        <p:spPr>
          <a:xfrm>
            <a:off x="685800" y="40233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LOE Date - EU:</a:t>
            </a:r>
            <a:endParaRPr/>
          </a:p>
        </p:txBody>
      </p:sp>
      <p:sp>
        <p:nvSpPr>
          <p:cNvPr id="320" name="Google Shape;320;p4"/>
          <p:cNvSpPr txBox="1"/>
          <p:nvPr/>
        </p:nvSpPr>
        <p:spPr>
          <a:xfrm>
            <a:off x="3017520" y="40233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January 2024</a:t>
            </a:r>
            <a:endParaRPr/>
          </a:p>
        </p:txBody>
      </p:sp>
      <p:sp>
        <p:nvSpPr>
          <p:cNvPr id="321" name="Google Shape;321;p4"/>
          <p:cNvSpPr txBox="1"/>
          <p:nvPr/>
        </p:nvSpPr>
        <p:spPr>
          <a:xfrm>
            <a:off x="685800" y="429767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First Approval Date:</a:t>
            </a:r>
            <a:endParaRPr/>
          </a:p>
        </p:txBody>
      </p:sp>
      <p:sp>
        <p:nvSpPr>
          <p:cNvPr id="322" name="Google Shape;322;p4"/>
          <p:cNvSpPr txBox="1"/>
          <p:nvPr/>
        </p:nvSpPr>
        <p:spPr>
          <a:xfrm>
            <a:off x="3017520" y="429767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September 2009 (US &amp; EU)</a:t>
            </a:r>
            <a:endParaRPr/>
          </a:p>
        </p:txBody>
      </p:sp>
      <p:sp>
        <p:nvSpPr>
          <p:cNvPr id="323" name="Google Shape;323;p4"/>
          <p:cNvSpPr txBox="1"/>
          <p:nvPr/>
        </p:nvSpPr>
        <p:spPr>
          <a:xfrm>
            <a:off x="685800" y="45720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Patents:</a:t>
            </a:r>
            <a:endParaRPr/>
          </a:p>
        </p:txBody>
      </p:sp>
      <p:sp>
        <p:nvSpPr>
          <p:cNvPr id="324" name="Google Shape;324;p4"/>
          <p:cNvSpPr txBox="1"/>
          <p:nvPr/>
        </p:nvSpPr>
        <p:spPr>
          <a:xfrm>
            <a:off x="3017520" y="45720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US6902734 (comp. of matter, exp. 2023); formulation patents to 2027</a:t>
            </a:r>
            <a:endParaRPr/>
          </a:p>
        </p:txBody>
      </p:sp>
      <p:sp>
        <p:nvSpPr>
          <p:cNvPr id="325" name="Google Shape;325;p4"/>
          <p:cNvSpPr/>
          <p:nvPr/>
        </p:nvSpPr>
        <p:spPr>
          <a:xfrm>
            <a:off x="6217920" y="214884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"/>
          <p:cNvSpPr txBox="1"/>
          <p:nvPr/>
        </p:nvSpPr>
        <p:spPr>
          <a:xfrm>
            <a:off x="6355080" y="21671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Market Breakdown</a:t>
            </a:r>
            <a:endParaRPr/>
          </a:p>
        </p:txBody>
      </p:sp>
      <p:sp>
        <p:nvSpPr>
          <p:cNvPr id="327" name="Google Shape;327;p4"/>
          <p:cNvSpPr txBox="1"/>
          <p:nvPr/>
        </p:nvSpPr>
        <p:spPr>
          <a:xfrm>
            <a:off x="6355080" y="26517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US Market Size:</a:t>
            </a:r>
            <a:endParaRPr/>
          </a:p>
        </p:txBody>
      </p:sp>
      <p:sp>
        <p:nvSpPr>
          <p:cNvPr id="328" name="Google Shape;328;p4"/>
          <p:cNvSpPr txBox="1"/>
          <p:nvPr/>
        </p:nvSpPr>
        <p:spPr>
          <a:xfrm>
            <a:off x="8961120" y="26517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$7.5B  (69% of global)</a:t>
            </a:r>
            <a:endParaRPr/>
          </a:p>
        </p:txBody>
      </p:sp>
      <p:sp>
        <p:nvSpPr>
          <p:cNvPr id="329" name="Google Shape;329;p4"/>
          <p:cNvSpPr txBox="1"/>
          <p:nvPr/>
        </p:nvSpPr>
        <p:spPr>
          <a:xfrm>
            <a:off x="6355080" y="2926079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EU Market Size:</a:t>
            </a:r>
            <a:endParaRPr/>
          </a:p>
        </p:txBody>
      </p:sp>
      <p:sp>
        <p:nvSpPr>
          <p:cNvPr id="330" name="Google Shape;330;p4"/>
          <p:cNvSpPr txBox="1"/>
          <p:nvPr/>
        </p:nvSpPr>
        <p:spPr>
          <a:xfrm>
            <a:off x="8961120" y="292607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$2.4B  (22% of global)</a:t>
            </a:r>
            <a:endParaRPr/>
          </a:p>
        </p:txBody>
      </p:sp>
      <p:sp>
        <p:nvSpPr>
          <p:cNvPr id="331" name="Google Shape;331;p4"/>
          <p:cNvSpPr txBox="1"/>
          <p:nvPr/>
        </p:nvSpPr>
        <p:spPr>
          <a:xfrm>
            <a:off x="6355080" y="32004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RoW Market Size:</a:t>
            </a:r>
            <a:endParaRPr/>
          </a:p>
        </p:txBody>
      </p:sp>
      <p:sp>
        <p:nvSpPr>
          <p:cNvPr id="332" name="Google Shape;332;p4"/>
          <p:cNvSpPr txBox="1"/>
          <p:nvPr/>
        </p:nvSpPr>
        <p:spPr>
          <a:xfrm>
            <a:off x="8961120" y="32004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$1.0B  (9% of global)</a:t>
            </a:r>
            <a:endParaRPr/>
          </a:p>
        </p:txBody>
      </p:sp>
      <p:sp>
        <p:nvSpPr>
          <p:cNvPr id="333" name="Google Shape;333;p4"/>
          <p:cNvSpPr txBox="1"/>
          <p:nvPr/>
        </p:nvSpPr>
        <p:spPr>
          <a:xfrm>
            <a:off x="6355080" y="34747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Volume (units/yr):</a:t>
            </a:r>
            <a:endParaRPr/>
          </a:p>
        </p:txBody>
      </p:sp>
      <p:sp>
        <p:nvSpPr>
          <p:cNvPr id="334" name="Google Shape;334;p4"/>
          <p:cNvSpPr txBox="1"/>
          <p:nvPr/>
        </p:nvSpPr>
        <p:spPr>
          <a:xfrm>
            <a:off x="8961120" y="34747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4.2M units globally</a:t>
            </a:r>
            <a:endParaRPr/>
          </a:p>
        </p:txBody>
      </p:sp>
      <p:sp>
        <p:nvSpPr>
          <p:cNvPr id="335" name="Google Shape;335;p4"/>
          <p:cNvSpPr txBox="1"/>
          <p:nvPr/>
        </p:nvSpPr>
        <p:spPr>
          <a:xfrm>
            <a:off x="6355080" y="3749039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Growth Trend:</a:t>
            </a:r>
            <a:endParaRPr/>
          </a:p>
        </p:txBody>
      </p:sp>
      <p:sp>
        <p:nvSpPr>
          <p:cNvPr id="336" name="Google Shape;336;p4"/>
          <p:cNvSpPr txBox="1"/>
          <p:nvPr/>
        </p:nvSpPr>
        <p:spPr>
          <a:xfrm>
            <a:off x="8961120" y="374903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Declining (biosimilar erosion beginning)</a:t>
            </a:r>
            <a:endParaRPr/>
          </a:p>
        </p:txBody>
      </p:sp>
      <p:sp>
        <p:nvSpPr>
          <p:cNvPr id="337" name="Google Shape;337;p4"/>
          <p:cNvSpPr txBox="1"/>
          <p:nvPr/>
        </p:nvSpPr>
        <p:spPr>
          <a:xfrm>
            <a:off x="6355080" y="40233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Drivers:</a:t>
            </a:r>
            <a:endParaRPr/>
          </a:p>
        </p:txBody>
      </p:sp>
      <p:sp>
        <p:nvSpPr>
          <p:cNvPr id="338" name="Google Shape;338;p4"/>
          <p:cNvSpPr txBox="1"/>
          <p:nvPr/>
        </p:nvSpPr>
        <p:spPr>
          <a:xfrm>
            <a:off x="8961120" y="40233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UC/Crohn's label expansion, pediatric psoriasis</a:t>
            </a:r>
            <a:endParaRPr/>
          </a:p>
        </p:txBody>
      </p:sp>
      <p:sp>
        <p:nvSpPr>
          <p:cNvPr id="339" name="Google Shape;339;p4"/>
          <p:cNvSpPr txBox="1"/>
          <p:nvPr/>
        </p:nvSpPr>
        <p:spPr>
          <a:xfrm>
            <a:off x="6355080" y="4297679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Risks:</a:t>
            </a:r>
            <a:endParaRPr/>
          </a:p>
        </p:txBody>
      </p:sp>
      <p:sp>
        <p:nvSpPr>
          <p:cNvPr id="340" name="Google Shape;340;p4"/>
          <p:cNvSpPr txBox="1"/>
          <p:nvPr/>
        </p:nvSpPr>
        <p:spPr>
          <a:xfrm>
            <a:off x="8961120" y="429767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Rapid biosimilar uptake, IL-23 class competition</a:t>
            </a:r>
            <a:endParaRPr/>
          </a:p>
        </p:txBody>
      </p:sp>
      <p:sp>
        <p:nvSpPr>
          <p:cNvPr id="341" name="Google Shape;341;p4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[Insert Stelara Revenue Trend Chart from IQVIA]</a:t>
            </a:r>
            <a:endParaRPr/>
          </a:p>
        </p:txBody>
      </p:sp>
      <p:sp>
        <p:nvSpPr>
          <p:cNvPr id="343" name="Google Shape;343;p4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IQVIA Analytics Link, Q4 2025; J&amp;J Annual Report 2024</a:t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by Geography: Ustekinumab (Stelara®)</a:t>
            </a:r>
            <a:endParaRPr/>
          </a:p>
        </p:txBody>
      </p:sp>
      <p:sp>
        <p:nvSpPr>
          <p:cNvPr id="352" name="Google Shape;352;p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5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828800"/>
                <a:gridCol w="1828800"/>
                <a:gridCol w="1828800"/>
                <a:gridCol w="1828800"/>
                <a:gridCol w="1371600"/>
                <a:gridCol w="23774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 Size ($M)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 (M units)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Price/Unit ($)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CAGR (%)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 of Global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States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$7,520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$4,178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-4.1%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$1,240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-3.1%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Kingdom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$1,025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Italy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$1,167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$290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$967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-2.9%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of World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$4,050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$10,900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5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[Insert Geographic Revenue Pie Chart from IQVIA]</a:t>
            </a:r>
            <a:endParaRPr/>
          </a:p>
        </p:txBody>
      </p:sp>
      <p:sp>
        <p:nvSpPr>
          <p:cNvPr id="356" name="Google Shape;356;p5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IQVIA Analytics Link, MAT Q4 2025; J&amp;J 10-K Filing 2024</a:t>
            </a: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Patent &amp; IP Landscape: Ustekinumab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685800" y="106984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Patent Portfolio</a:t>
            </a:r>
            <a:endParaRPr/>
          </a:p>
        </p:txBody>
      </p:sp>
      <p:graphicFrame>
        <p:nvGraphicFramePr>
          <p:cNvPr id="368" name="Google Shape;368;p6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280150"/>
                <a:gridCol w="1005850"/>
                <a:gridCol w="914400"/>
                <a:gridCol w="1188725"/>
                <a:gridCol w="1097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Patent Type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Patent #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Expiry Date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Territory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Composition of Matter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US6902734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 2023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Expired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Composition (p40)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EP1517921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 2024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Expired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Formulation (liquid)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US8920805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of Use (UC)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US10336826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 2029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Manufacturing Process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US7700739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 2025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Expiring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 (PFS syringe)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US10786624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 2030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6"/>
          <p:cNvSpPr/>
          <p:nvPr/>
        </p:nvSpPr>
        <p:spPr>
          <a:xfrm>
            <a:off x="6400800" y="105156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 txBox="1"/>
          <p:nvPr/>
        </p:nvSpPr>
        <p:spPr>
          <a:xfrm>
            <a:off x="6537960" y="106984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Freedom-to-Operate Assessment</a:t>
            </a:r>
            <a:endParaRPr/>
          </a:p>
        </p:txBody>
      </p:sp>
      <p:sp>
        <p:nvSpPr>
          <p:cNvPr id="371" name="Google Shape;371;p6"/>
          <p:cNvSpPr/>
          <p:nvPr/>
        </p:nvSpPr>
        <p:spPr>
          <a:xfrm>
            <a:off x="6537960" y="1618488"/>
            <a:ext cx="182880" cy="182880"/>
          </a:xfrm>
          <a:prstGeom prst="ellipse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 txBox="1"/>
          <p:nvPr/>
        </p:nvSpPr>
        <p:spPr>
          <a:xfrm>
            <a:off x="6812280" y="15727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Composition IP:</a:t>
            </a:r>
            <a:endParaRPr/>
          </a:p>
        </p:txBody>
      </p:sp>
      <p:sp>
        <p:nvSpPr>
          <p:cNvPr id="373" name="Google Shape;373;p6"/>
          <p:cNvSpPr txBox="1"/>
          <p:nvPr/>
        </p:nvSpPr>
        <p:spPr>
          <a:xfrm>
            <a:off x="6812280" y="177393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Low risk — key patent US6902734 expired Sep 2023</a:t>
            </a:r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6537960" y="2121408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 txBox="1"/>
          <p:nvPr/>
        </p:nvSpPr>
        <p:spPr>
          <a:xfrm>
            <a:off x="6812280" y="20756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Formulation IP:</a:t>
            </a:r>
            <a:endParaRPr/>
          </a:p>
        </p:txBody>
      </p:sp>
      <p:sp>
        <p:nvSpPr>
          <p:cNvPr id="376" name="Google Shape;376;p6"/>
          <p:cNvSpPr txBox="1"/>
          <p:nvPr/>
        </p:nvSpPr>
        <p:spPr>
          <a:xfrm>
            <a:off x="6812280" y="227685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Medium risk — liquid formulation patent active until Dec 2026</a:t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6537960" y="2624328"/>
            <a:ext cx="182880" cy="182880"/>
          </a:xfrm>
          <a:prstGeom prst="ellipse">
            <a:avLst/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 txBox="1"/>
          <p:nvPr/>
        </p:nvSpPr>
        <p:spPr>
          <a:xfrm>
            <a:off x="6812280" y="25786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Manufacturing IP:</a:t>
            </a:r>
            <a:endParaRPr/>
          </a:p>
        </p:txBody>
      </p:sp>
      <p:sp>
        <p:nvSpPr>
          <p:cNvPr id="379" name="Google Shape;379;p6"/>
          <p:cNvSpPr txBox="1"/>
          <p:nvPr/>
        </p:nvSpPr>
        <p:spPr>
          <a:xfrm>
            <a:off x="6812280" y="277977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Low risk — standard CHO process; patent expiring Jun 2025</a:t>
            </a:r>
            <a:endParaRPr/>
          </a:p>
        </p:txBody>
      </p:sp>
      <p:sp>
        <p:nvSpPr>
          <p:cNvPr id="380" name="Google Shape;380;p6"/>
          <p:cNvSpPr/>
          <p:nvPr/>
        </p:nvSpPr>
        <p:spPr>
          <a:xfrm>
            <a:off x="6537960" y="3127248"/>
            <a:ext cx="182880" cy="18288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 txBox="1"/>
          <p:nvPr/>
        </p:nvSpPr>
        <p:spPr>
          <a:xfrm>
            <a:off x="6812280" y="30815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Device/Delivery IP:</a:t>
            </a:r>
            <a:endParaRPr/>
          </a:p>
        </p:txBody>
      </p:sp>
      <p:sp>
        <p:nvSpPr>
          <p:cNvPr id="382" name="Google Shape;382;p6"/>
          <p:cNvSpPr txBox="1"/>
          <p:nvPr/>
        </p:nvSpPr>
        <p:spPr>
          <a:xfrm>
            <a:off x="6812280" y="328269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 risk — PFS syringe patent active until Mar 2030</a:t>
            </a:r>
            <a:endParaRPr/>
          </a:p>
        </p:txBody>
      </p:sp>
      <p:sp>
        <p:nvSpPr>
          <p:cNvPr id="383" name="Google Shape;383;p6"/>
          <p:cNvSpPr/>
          <p:nvPr/>
        </p:nvSpPr>
        <p:spPr>
          <a:xfrm>
            <a:off x="6400800" y="361188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 txBox="1"/>
          <p:nvPr/>
        </p:nvSpPr>
        <p:spPr>
          <a:xfrm>
            <a:off x="6537960" y="363016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IP Strategy</a:t>
            </a:r>
            <a:endParaRPr/>
          </a:p>
        </p:txBody>
      </p:sp>
      <p:sp>
        <p:nvSpPr>
          <p:cNvPr id="385" name="Google Shape;385;p6"/>
          <p:cNvSpPr txBox="1"/>
          <p:nvPr/>
        </p:nvSpPr>
        <p:spPr>
          <a:xfrm>
            <a:off x="6537960" y="406908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Composition patent expired; composition claims no longer barrier to entry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Formulation design-around feasible using alternative stabilizer excipients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UC method-of-use patent (2029) may limit label carve-out flexibility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PFS device patent avoidable via vial-only launch or alternate device design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Janssen settled with Samsung Bioepis (2025 US launch); precedent for settlements</a:t>
            </a:r>
            <a:endParaRPr/>
          </a:p>
        </p:txBody>
      </p:sp>
      <p:sp>
        <p:nvSpPr>
          <p:cNvPr id="386" name="Google Shape;386;p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USPTO, EPO, Derwent Innovation, Unified Patents, Q1 2026</a:t>
            </a:r>
            <a:endParaRPr/>
          </a:p>
        </p:txBody>
      </p:sp>
      <p:sp>
        <p:nvSpPr>
          <p:cNvPr id="387" name="Google Shape;387;p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Pathway &amp; CMC Assessment</a:t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685800" y="106984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Regulatory Pathway Comparison</a:t>
            </a:r>
            <a:endParaRPr/>
          </a:p>
        </p:txBody>
      </p:sp>
      <p:graphicFrame>
        <p:nvGraphicFramePr>
          <p:cNvPr id="398" name="Google Shape;398;p7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463050"/>
                <a:gridCol w="2011675"/>
                <a:gridCol w="20116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 351(k)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 Biosimilar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 Product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Stelara® (US)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Stelara® (EU)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 Pathway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351(k) BPCIA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10(4) Directive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 Studies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Extensive (glycosylation focus)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Extensive (CQA-driven)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PK/PD Studies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 (healthy volunteers)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 (PK bridging)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Efficacy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pivotal (psoriasis)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pivotal (psoriasis)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Interchangeability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Sought (switching study)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 per EMA guidance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Timeline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18–24 months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15–18 months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Filing Strategy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 Q2 2027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MAA Q4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7"/>
          <p:cNvSpPr/>
          <p:nvPr/>
        </p:nvSpPr>
        <p:spPr>
          <a:xfrm>
            <a:off x="6400800" y="105156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6537960" y="106984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CMC Complexity Assessment</a:t>
            </a:r>
            <a:endParaRPr/>
          </a:p>
        </p:txBody>
      </p:sp>
      <p:sp>
        <p:nvSpPr>
          <p:cNvPr id="401" name="Google Shape;401;p7"/>
          <p:cNvSpPr txBox="1"/>
          <p:nvPr/>
        </p:nvSpPr>
        <p:spPr>
          <a:xfrm>
            <a:off x="6537960" y="15727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Expression System</a:t>
            </a:r>
            <a:endParaRPr/>
          </a:p>
        </p:txBody>
      </p:sp>
      <p:sp>
        <p:nvSpPr>
          <p:cNvPr id="402" name="Google Shape;402;p7"/>
          <p:cNvSpPr txBox="1"/>
          <p:nvPr/>
        </p:nvSpPr>
        <p:spPr>
          <a:xfrm>
            <a:off x="6537960" y="179222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CHO (established platform)  —  Complexity: Low</a:t>
            </a:r>
            <a:endParaRPr/>
          </a:p>
        </p:txBody>
      </p:sp>
      <p:sp>
        <p:nvSpPr>
          <p:cNvPr id="403" name="Google Shape;403;p7"/>
          <p:cNvSpPr/>
          <p:nvPr/>
        </p:nvSpPr>
        <p:spPr>
          <a:xfrm>
            <a:off x="10424160" y="1618488"/>
            <a:ext cx="1234440" cy="3657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 txBox="1"/>
          <p:nvPr/>
        </p:nvSpPr>
        <p:spPr>
          <a:xfrm>
            <a:off x="10424160" y="166420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405" name="Google Shape;405;p7"/>
          <p:cNvSpPr txBox="1"/>
          <p:nvPr/>
        </p:nvSpPr>
        <p:spPr>
          <a:xfrm>
            <a:off x="6537960" y="21671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Formulation</a:t>
            </a:r>
            <a:endParaRPr/>
          </a:p>
        </p:txBody>
      </p:sp>
      <p:sp>
        <p:nvSpPr>
          <p:cNvPr id="406" name="Google Shape;406;p7"/>
          <p:cNvSpPr txBox="1"/>
          <p:nvPr/>
        </p:nvSpPr>
        <p:spPr>
          <a:xfrm>
            <a:off x="6537960" y="238658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Liquid SC / IV; histidine-sucrose buffer  —  Complexity: Medium</a:t>
            </a: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10424160" y="2212848"/>
            <a:ext cx="1234440" cy="3657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 txBox="1"/>
          <p:nvPr/>
        </p:nvSpPr>
        <p:spPr>
          <a:xfrm>
            <a:off x="10424160" y="225856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409" name="Google Shape;409;p7"/>
          <p:cNvSpPr txBox="1"/>
          <p:nvPr/>
        </p:nvSpPr>
        <p:spPr>
          <a:xfrm>
            <a:off x="6537960" y="27614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Analytical Package</a:t>
            </a:r>
            <a:endParaRPr/>
          </a:p>
        </p:txBody>
      </p:sp>
      <p:sp>
        <p:nvSpPr>
          <p:cNvPr id="410" name="Google Shape;410;p7"/>
          <p:cNvSpPr txBox="1"/>
          <p:nvPr/>
        </p:nvSpPr>
        <p:spPr>
          <a:xfrm>
            <a:off x="6537960" y="298094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Glycosylation, charge variants, potency  —  Complexity: Medium</a:t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10424160" y="2807208"/>
            <a:ext cx="1234440" cy="3657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 txBox="1"/>
          <p:nvPr/>
        </p:nvSpPr>
        <p:spPr>
          <a:xfrm>
            <a:off x="10424160" y="285292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413" name="Google Shape;413;p7"/>
          <p:cNvSpPr txBox="1"/>
          <p:nvPr/>
        </p:nvSpPr>
        <p:spPr>
          <a:xfrm>
            <a:off x="6537960" y="33558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Device/Container</a:t>
            </a:r>
            <a:endParaRPr/>
          </a:p>
        </p:txBody>
      </p:sp>
      <p:sp>
        <p:nvSpPr>
          <p:cNvPr id="414" name="Google Shape;414;p7"/>
          <p:cNvSpPr txBox="1"/>
          <p:nvPr/>
        </p:nvSpPr>
        <p:spPr>
          <a:xfrm>
            <a:off x="6537960" y="357530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PFS (0.5 mL / 1.0 mL) or vial option  —  Complexity: Medium</a:t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10424160" y="3401568"/>
            <a:ext cx="1234440" cy="3657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 txBox="1"/>
          <p:nvPr/>
        </p:nvSpPr>
        <p:spPr>
          <a:xfrm>
            <a:off x="10424160" y="344728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417" name="Google Shape;417;p7"/>
          <p:cNvSpPr txBox="1"/>
          <p:nvPr/>
        </p:nvSpPr>
        <p:spPr>
          <a:xfrm>
            <a:off x="6537960" y="3950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Scale-up</a:t>
            </a:r>
            <a:endParaRPr/>
          </a:p>
        </p:txBody>
      </p:sp>
      <p:sp>
        <p:nvSpPr>
          <p:cNvPr id="418" name="Google Shape;418;p7"/>
          <p:cNvSpPr txBox="1"/>
          <p:nvPr/>
        </p:nvSpPr>
        <p:spPr>
          <a:xfrm>
            <a:off x="6537960" y="416966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Standard mAb process; 2,000L bioreactor  —  Complexity: Low</a:t>
            </a: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10424160" y="3995928"/>
            <a:ext cx="1234440" cy="3657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 txBox="1"/>
          <p:nvPr/>
        </p:nvSpPr>
        <p:spPr>
          <a:xfrm>
            <a:off x="10424160" y="4041648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6400800" y="4663440"/>
            <a:ext cx="5394960" cy="54864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6400800" y="4846320"/>
            <a:ext cx="5394960" cy="54864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905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653796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Overall CMC Complexity:</a:t>
            </a:r>
            <a:endParaRPr/>
          </a:p>
        </p:txBody>
      </p:sp>
      <p:sp>
        <p:nvSpPr>
          <p:cNvPr id="424" name="Google Shape;424;p7"/>
          <p:cNvSpPr txBox="1"/>
          <p:nvPr/>
        </p:nvSpPr>
        <p:spPr>
          <a:xfrm>
            <a:off x="9601200" y="4892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Preliminary Development Timeline: Ustekinumab Biosimilar</a:t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8412480" y="960120"/>
            <a:ext cx="777240" cy="2286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8458200" y="97840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 LoE</a:t>
            </a: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9189719" y="960120"/>
            <a:ext cx="96012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9235440" y="97840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Jan 2025</a:t>
            </a:r>
            <a:endParaRPr/>
          </a:p>
        </p:txBody>
      </p:sp>
      <p:sp>
        <p:nvSpPr>
          <p:cNvPr id="438" name="Google Shape;438;p8"/>
          <p:cNvSpPr/>
          <p:nvPr/>
        </p:nvSpPr>
        <p:spPr>
          <a:xfrm>
            <a:off x="10241280" y="960120"/>
            <a:ext cx="777240" cy="2286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 txBox="1"/>
          <p:nvPr/>
        </p:nvSpPr>
        <p:spPr>
          <a:xfrm>
            <a:off x="10287000" y="97840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 LoE</a:t>
            </a:r>
            <a:endParaRPr/>
          </a:p>
        </p:txBody>
      </p:sp>
      <p:sp>
        <p:nvSpPr>
          <p:cNvPr id="440" name="Google Shape;440;p8"/>
          <p:cNvSpPr/>
          <p:nvPr/>
        </p:nvSpPr>
        <p:spPr>
          <a:xfrm>
            <a:off x="11018519" y="960120"/>
            <a:ext cx="96012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1064240" y="97840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Jan 2024</a:t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8412480" y="1234440"/>
            <a:ext cx="777240" cy="2286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 txBox="1"/>
          <p:nvPr/>
        </p:nvSpPr>
        <p:spPr>
          <a:xfrm>
            <a:off x="8458200" y="125272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 site</a:t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9189719" y="1234440"/>
            <a:ext cx="96012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 txBox="1"/>
          <p:nvPr/>
        </p:nvSpPr>
        <p:spPr>
          <a:xfrm>
            <a:off x="9235440" y="125272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Mabxience</a:t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10241280" y="1234440"/>
            <a:ext cx="777240" cy="22860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10287000" y="125272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 site</a:t>
            </a:r>
            <a:endParaRPr/>
          </a:p>
        </p:txBody>
      </p:sp>
      <p:sp>
        <p:nvSpPr>
          <p:cNvPr id="448" name="Google Shape;448;p8"/>
          <p:cNvSpPr/>
          <p:nvPr/>
        </p:nvSpPr>
        <p:spPr>
          <a:xfrm>
            <a:off x="11018519" y="1234440"/>
            <a:ext cx="96012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 txBox="1"/>
          <p:nvPr/>
        </p:nvSpPr>
        <p:spPr>
          <a:xfrm>
            <a:off x="11064240" y="125272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TBC</a:t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3108960" y="1600200"/>
            <a:ext cx="1417320" cy="256032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 txBox="1"/>
          <p:nvPr/>
        </p:nvSpPr>
        <p:spPr>
          <a:xfrm>
            <a:off x="310896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4526280" y="1600200"/>
            <a:ext cx="1417320" cy="256032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 txBox="1"/>
          <p:nvPr/>
        </p:nvSpPr>
        <p:spPr>
          <a:xfrm>
            <a:off x="452628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</p:txBody>
      </p:sp>
      <p:sp>
        <p:nvSpPr>
          <p:cNvPr id="454" name="Google Shape;454;p8"/>
          <p:cNvSpPr/>
          <p:nvPr/>
        </p:nvSpPr>
        <p:spPr>
          <a:xfrm>
            <a:off x="5943600" y="1600200"/>
            <a:ext cx="1417320" cy="256032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 txBox="1"/>
          <p:nvPr/>
        </p:nvSpPr>
        <p:spPr>
          <a:xfrm>
            <a:off x="594360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7360920" y="1600200"/>
            <a:ext cx="1417320" cy="256032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 txBox="1"/>
          <p:nvPr/>
        </p:nvSpPr>
        <p:spPr>
          <a:xfrm>
            <a:off x="736092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8778240" y="1600200"/>
            <a:ext cx="1417320" cy="256032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 txBox="1"/>
          <p:nvPr/>
        </p:nvSpPr>
        <p:spPr>
          <a:xfrm>
            <a:off x="877824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10195560" y="1600200"/>
            <a:ext cx="1417320" cy="256032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 txBox="1"/>
          <p:nvPr/>
        </p:nvSpPr>
        <p:spPr>
          <a:xfrm>
            <a:off x="10195560" y="161848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462" name="Google Shape;462;p8"/>
          <p:cNvSpPr/>
          <p:nvPr/>
        </p:nvSpPr>
        <p:spPr>
          <a:xfrm>
            <a:off x="310896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 txBox="1"/>
          <p:nvPr/>
        </p:nvSpPr>
        <p:spPr>
          <a:xfrm>
            <a:off x="310896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346329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 txBox="1"/>
          <p:nvPr/>
        </p:nvSpPr>
        <p:spPr>
          <a:xfrm>
            <a:off x="346329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381762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 txBox="1"/>
          <p:nvPr/>
        </p:nvSpPr>
        <p:spPr>
          <a:xfrm>
            <a:off x="381762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417195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417195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452628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 txBox="1"/>
          <p:nvPr/>
        </p:nvSpPr>
        <p:spPr>
          <a:xfrm>
            <a:off x="452628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488061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 txBox="1"/>
          <p:nvPr/>
        </p:nvSpPr>
        <p:spPr>
          <a:xfrm>
            <a:off x="488061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23494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 txBox="1"/>
          <p:nvPr/>
        </p:nvSpPr>
        <p:spPr>
          <a:xfrm>
            <a:off x="523494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58927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558927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94360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594360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629793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629793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665226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 txBox="1"/>
          <p:nvPr/>
        </p:nvSpPr>
        <p:spPr>
          <a:xfrm>
            <a:off x="665226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700659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 txBox="1"/>
          <p:nvPr/>
        </p:nvSpPr>
        <p:spPr>
          <a:xfrm>
            <a:off x="700659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736092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 txBox="1"/>
          <p:nvPr/>
        </p:nvSpPr>
        <p:spPr>
          <a:xfrm>
            <a:off x="736092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771525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771525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806958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 txBox="1"/>
          <p:nvPr/>
        </p:nvSpPr>
        <p:spPr>
          <a:xfrm>
            <a:off x="806958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492" name="Google Shape;492;p8"/>
          <p:cNvSpPr/>
          <p:nvPr/>
        </p:nvSpPr>
        <p:spPr>
          <a:xfrm>
            <a:off x="842391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 txBox="1"/>
          <p:nvPr/>
        </p:nvSpPr>
        <p:spPr>
          <a:xfrm>
            <a:off x="842391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877824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 txBox="1"/>
          <p:nvPr/>
        </p:nvSpPr>
        <p:spPr>
          <a:xfrm>
            <a:off x="877824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9132569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 txBox="1"/>
          <p:nvPr/>
        </p:nvSpPr>
        <p:spPr>
          <a:xfrm>
            <a:off x="9132569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498" name="Google Shape;498;p8"/>
          <p:cNvSpPr/>
          <p:nvPr/>
        </p:nvSpPr>
        <p:spPr>
          <a:xfrm>
            <a:off x="948690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 txBox="1"/>
          <p:nvPr/>
        </p:nvSpPr>
        <p:spPr>
          <a:xfrm>
            <a:off x="948690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984123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 txBox="1"/>
          <p:nvPr/>
        </p:nvSpPr>
        <p:spPr>
          <a:xfrm>
            <a:off x="984123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502" name="Google Shape;502;p8"/>
          <p:cNvSpPr/>
          <p:nvPr/>
        </p:nvSpPr>
        <p:spPr>
          <a:xfrm>
            <a:off x="1019556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 txBox="1"/>
          <p:nvPr/>
        </p:nvSpPr>
        <p:spPr>
          <a:xfrm>
            <a:off x="1019556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/>
          </a:p>
        </p:txBody>
      </p:sp>
      <p:sp>
        <p:nvSpPr>
          <p:cNvPr id="504" name="Google Shape;504;p8"/>
          <p:cNvSpPr/>
          <p:nvPr/>
        </p:nvSpPr>
        <p:spPr>
          <a:xfrm>
            <a:off x="1054989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 txBox="1"/>
          <p:nvPr/>
        </p:nvSpPr>
        <p:spPr>
          <a:xfrm>
            <a:off x="1054989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sp>
        <p:nvSpPr>
          <p:cNvPr id="506" name="Google Shape;506;p8"/>
          <p:cNvSpPr/>
          <p:nvPr/>
        </p:nvSpPr>
        <p:spPr>
          <a:xfrm>
            <a:off x="1090422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 txBox="1"/>
          <p:nvPr/>
        </p:nvSpPr>
        <p:spPr>
          <a:xfrm>
            <a:off x="1090422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/>
          </a:p>
        </p:txBody>
      </p:sp>
      <p:sp>
        <p:nvSpPr>
          <p:cNvPr id="508" name="Google Shape;508;p8"/>
          <p:cNvSpPr/>
          <p:nvPr/>
        </p:nvSpPr>
        <p:spPr>
          <a:xfrm>
            <a:off x="11258550" y="1856232"/>
            <a:ext cx="354330" cy="18288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 txBox="1"/>
          <p:nvPr/>
        </p:nvSpPr>
        <p:spPr>
          <a:xfrm>
            <a:off x="11258550" y="1865376"/>
            <a:ext cx="3543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/>
          </a:p>
        </p:txBody>
      </p:sp>
      <p:sp>
        <p:nvSpPr>
          <p:cNvPr id="510" name="Google Shape;510;p8"/>
          <p:cNvSpPr/>
          <p:nvPr/>
        </p:nvSpPr>
        <p:spPr>
          <a:xfrm>
            <a:off x="310896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452628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594360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736092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877824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1019556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11612880" y="2039112"/>
            <a:ext cx="9144" cy="3904487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 txBox="1"/>
          <p:nvPr/>
        </p:nvSpPr>
        <p:spPr>
          <a:xfrm>
            <a:off x="548640" y="2039112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Analytical Methods</a:t>
            </a:r>
            <a:endParaRPr/>
          </a:p>
        </p:txBody>
      </p:sp>
      <p:sp>
        <p:nvSpPr>
          <p:cNvPr id="518" name="Google Shape;518;p8"/>
          <p:cNvSpPr/>
          <p:nvPr/>
        </p:nvSpPr>
        <p:spPr>
          <a:xfrm>
            <a:off x="3108960" y="2194560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 txBox="1"/>
          <p:nvPr/>
        </p:nvSpPr>
        <p:spPr>
          <a:xfrm>
            <a:off x="685800" y="2194560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Assessment &amp; Qualification</a:t>
            </a:r>
            <a:endParaRPr/>
          </a:p>
        </p:txBody>
      </p:sp>
      <p:sp>
        <p:nvSpPr>
          <p:cNvPr id="520" name="Google Shape;520;p8"/>
          <p:cNvSpPr/>
          <p:nvPr/>
        </p:nvSpPr>
        <p:spPr>
          <a:xfrm>
            <a:off x="3108960" y="2350008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3108960" y="2212848"/>
            <a:ext cx="177165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 txBox="1"/>
          <p:nvPr/>
        </p:nvSpPr>
        <p:spPr>
          <a:xfrm>
            <a:off x="685800" y="2350008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Validation Level I &amp; II</a:t>
            </a:r>
            <a:endParaRPr/>
          </a:p>
        </p:txBody>
      </p:sp>
      <p:sp>
        <p:nvSpPr>
          <p:cNvPr id="523" name="Google Shape;523;p8"/>
          <p:cNvSpPr/>
          <p:nvPr/>
        </p:nvSpPr>
        <p:spPr>
          <a:xfrm>
            <a:off x="3108960" y="2505456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4526280" y="2368296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548640" y="2505456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Process Development</a:t>
            </a:r>
            <a:endParaRPr/>
          </a:p>
        </p:txBody>
      </p:sp>
      <p:sp>
        <p:nvSpPr>
          <p:cNvPr id="526" name="Google Shape;526;p8"/>
          <p:cNvSpPr/>
          <p:nvPr/>
        </p:nvSpPr>
        <p:spPr>
          <a:xfrm>
            <a:off x="3108960" y="2660903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8"/>
          <p:cNvSpPr txBox="1"/>
          <p:nvPr/>
        </p:nvSpPr>
        <p:spPr>
          <a:xfrm>
            <a:off x="685800" y="2660903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CLD – External</a:t>
            </a:r>
            <a:endParaRPr/>
          </a:p>
        </p:txBody>
      </p:sp>
      <p:sp>
        <p:nvSpPr>
          <p:cNvPr id="528" name="Google Shape;528;p8"/>
          <p:cNvSpPr/>
          <p:nvPr/>
        </p:nvSpPr>
        <p:spPr>
          <a:xfrm>
            <a:off x="3108960" y="2816351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8"/>
          <p:cNvSpPr/>
          <p:nvPr/>
        </p:nvSpPr>
        <p:spPr>
          <a:xfrm>
            <a:off x="3108960" y="2679191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4135374" y="2660903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685800" y="2816351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Process Development</a:t>
            </a:r>
            <a:endParaRPr/>
          </a:p>
        </p:txBody>
      </p:sp>
      <p:sp>
        <p:nvSpPr>
          <p:cNvPr id="532" name="Google Shape;532;p8"/>
          <p:cNvSpPr/>
          <p:nvPr/>
        </p:nvSpPr>
        <p:spPr>
          <a:xfrm>
            <a:off x="3108960" y="2971799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8"/>
          <p:cNvSpPr/>
          <p:nvPr/>
        </p:nvSpPr>
        <p:spPr>
          <a:xfrm>
            <a:off x="4526280" y="2834639"/>
            <a:ext cx="212598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685800" y="2971799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Demo Runs &amp; Characterization</a:t>
            </a:r>
            <a:endParaRPr/>
          </a:p>
        </p:txBody>
      </p:sp>
      <p:sp>
        <p:nvSpPr>
          <p:cNvPr id="535" name="Google Shape;535;p8"/>
          <p:cNvSpPr/>
          <p:nvPr/>
        </p:nvSpPr>
        <p:spPr>
          <a:xfrm>
            <a:off x="3108960" y="3127247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5943600" y="2990087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6970014" y="2971799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 txBox="1"/>
          <p:nvPr/>
        </p:nvSpPr>
        <p:spPr>
          <a:xfrm>
            <a:off x="685800" y="3127247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MCB/WCB Generation</a:t>
            </a:r>
            <a:endParaRPr/>
          </a:p>
        </p:txBody>
      </p:sp>
      <p:sp>
        <p:nvSpPr>
          <p:cNvPr id="539" name="Google Shape;539;p8"/>
          <p:cNvSpPr/>
          <p:nvPr/>
        </p:nvSpPr>
        <p:spPr>
          <a:xfrm>
            <a:off x="3108960" y="3282695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5589270" y="3145535"/>
            <a:ext cx="106299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 txBox="1"/>
          <p:nvPr/>
        </p:nvSpPr>
        <p:spPr>
          <a:xfrm>
            <a:off x="548640" y="3282695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Scale-up ENG + GMP</a:t>
            </a:r>
            <a:endParaRPr/>
          </a:p>
        </p:txBody>
      </p:sp>
      <p:sp>
        <p:nvSpPr>
          <p:cNvPr id="542" name="Google Shape;542;p8"/>
          <p:cNvSpPr/>
          <p:nvPr/>
        </p:nvSpPr>
        <p:spPr>
          <a:xfrm>
            <a:off x="3108960" y="3438143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8"/>
          <p:cNvSpPr txBox="1"/>
          <p:nvPr/>
        </p:nvSpPr>
        <p:spPr>
          <a:xfrm>
            <a:off x="685800" y="3438143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Clinical campaign 3 batches</a:t>
            </a:r>
            <a:endParaRPr/>
          </a:p>
        </p:txBody>
      </p:sp>
      <p:sp>
        <p:nvSpPr>
          <p:cNvPr id="544" name="Google Shape;544;p8"/>
          <p:cNvSpPr/>
          <p:nvPr/>
        </p:nvSpPr>
        <p:spPr>
          <a:xfrm>
            <a:off x="3108960" y="3593591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8"/>
          <p:cNvSpPr/>
          <p:nvPr/>
        </p:nvSpPr>
        <p:spPr>
          <a:xfrm>
            <a:off x="6652260" y="3456431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 txBox="1"/>
          <p:nvPr/>
        </p:nvSpPr>
        <p:spPr>
          <a:xfrm>
            <a:off x="685800" y="3593591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DSM Qual. + Process Charact.</a:t>
            </a:r>
            <a:endParaRPr/>
          </a:p>
        </p:txBody>
      </p:sp>
      <p:sp>
        <p:nvSpPr>
          <p:cNvPr id="547" name="Google Shape;547;p8"/>
          <p:cNvSpPr/>
          <p:nvPr/>
        </p:nvSpPr>
        <p:spPr>
          <a:xfrm>
            <a:off x="3108960" y="3749039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8"/>
          <p:cNvSpPr/>
          <p:nvPr/>
        </p:nvSpPr>
        <p:spPr>
          <a:xfrm>
            <a:off x="7360920" y="3611879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8"/>
          <p:cNvSpPr txBox="1"/>
          <p:nvPr/>
        </p:nvSpPr>
        <p:spPr>
          <a:xfrm>
            <a:off x="685800" y="3749039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Viral Clearance Validation</a:t>
            </a:r>
            <a:endParaRPr/>
          </a:p>
        </p:txBody>
      </p:sp>
      <p:sp>
        <p:nvSpPr>
          <p:cNvPr id="550" name="Google Shape;550;p8"/>
          <p:cNvSpPr/>
          <p:nvPr/>
        </p:nvSpPr>
        <p:spPr>
          <a:xfrm>
            <a:off x="3108960" y="3904487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8"/>
          <p:cNvSpPr/>
          <p:nvPr/>
        </p:nvSpPr>
        <p:spPr>
          <a:xfrm>
            <a:off x="7715250" y="3767327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"/>
          <p:cNvSpPr txBox="1"/>
          <p:nvPr/>
        </p:nvSpPr>
        <p:spPr>
          <a:xfrm>
            <a:off x="548640" y="3904487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Consistency &amp; Validation</a:t>
            </a:r>
            <a:endParaRPr/>
          </a:p>
        </p:txBody>
      </p:sp>
      <p:sp>
        <p:nvSpPr>
          <p:cNvPr id="553" name="Google Shape;553;p8"/>
          <p:cNvSpPr/>
          <p:nvPr/>
        </p:nvSpPr>
        <p:spPr>
          <a:xfrm>
            <a:off x="3108960" y="4059935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8"/>
          <p:cNvSpPr txBox="1"/>
          <p:nvPr/>
        </p:nvSpPr>
        <p:spPr>
          <a:xfrm>
            <a:off x="685800" y="4059935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Consistency campaign 6 batches</a:t>
            </a:r>
            <a:endParaRPr/>
          </a:p>
        </p:txBody>
      </p:sp>
      <p:sp>
        <p:nvSpPr>
          <p:cNvPr id="555" name="Google Shape;555;p8"/>
          <p:cNvSpPr/>
          <p:nvPr/>
        </p:nvSpPr>
        <p:spPr>
          <a:xfrm>
            <a:off x="3108960" y="4215383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8"/>
          <p:cNvSpPr/>
          <p:nvPr/>
        </p:nvSpPr>
        <p:spPr>
          <a:xfrm>
            <a:off x="8069579" y="4078223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8"/>
          <p:cNvSpPr txBox="1"/>
          <p:nvPr/>
        </p:nvSpPr>
        <p:spPr>
          <a:xfrm>
            <a:off x="685800" y="4215383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PPQ Campaign 3 batches</a:t>
            </a:r>
            <a:endParaRPr/>
          </a:p>
        </p:txBody>
      </p:sp>
      <p:sp>
        <p:nvSpPr>
          <p:cNvPr id="558" name="Google Shape;558;p8"/>
          <p:cNvSpPr/>
          <p:nvPr/>
        </p:nvSpPr>
        <p:spPr>
          <a:xfrm>
            <a:off x="3108960" y="4370831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8778240" y="4233671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"/>
          <p:cNvSpPr txBox="1"/>
          <p:nvPr/>
        </p:nvSpPr>
        <p:spPr>
          <a:xfrm>
            <a:off x="685800" y="4370831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Pivotal Similarity</a:t>
            </a:r>
            <a:endParaRPr/>
          </a:p>
        </p:txBody>
      </p:sp>
      <p:sp>
        <p:nvSpPr>
          <p:cNvPr id="561" name="Google Shape;561;p8"/>
          <p:cNvSpPr/>
          <p:nvPr/>
        </p:nvSpPr>
        <p:spPr>
          <a:xfrm>
            <a:off x="3108960" y="4526279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8"/>
          <p:cNvSpPr/>
          <p:nvPr/>
        </p:nvSpPr>
        <p:spPr>
          <a:xfrm>
            <a:off x="9132570" y="4389119"/>
            <a:ext cx="1062990" cy="118872"/>
          </a:xfrm>
          <a:prstGeom prst="roundRect">
            <a:avLst>
              <a:gd fmla="val 16667" name="adj"/>
            </a:avLst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8"/>
          <p:cNvSpPr txBox="1"/>
          <p:nvPr/>
        </p:nvSpPr>
        <p:spPr>
          <a:xfrm>
            <a:off x="548640" y="4526279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/>
          </a:p>
        </p:txBody>
      </p:sp>
      <p:sp>
        <p:nvSpPr>
          <p:cNvPr id="564" name="Google Shape;564;p8"/>
          <p:cNvSpPr/>
          <p:nvPr/>
        </p:nvSpPr>
        <p:spPr>
          <a:xfrm>
            <a:off x="3108960" y="4681727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8"/>
          <p:cNvSpPr txBox="1"/>
          <p:nvPr/>
        </p:nvSpPr>
        <p:spPr>
          <a:xfrm>
            <a:off x="685800" y="4681727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Scientific Advice (SA)</a:t>
            </a:r>
            <a:endParaRPr/>
          </a:p>
        </p:txBody>
      </p:sp>
      <p:sp>
        <p:nvSpPr>
          <p:cNvPr id="566" name="Google Shape;566;p8"/>
          <p:cNvSpPr/>
          <p:nvPr/>
        </p:nvSpPr>
        <p:spPr>
          <a:xfrm>
            <a:off x="3108960" y="4837175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/>
          <p:nvPr/>
        </p:nvSpPr>
        <p:spPr>
          <a:xfrm>
            <a:off x="5234940" y="4700015"/>
            <a:ext cx="354330" cy="118872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8"/>
          <p:cNvSpPr/>
          <p:nvPr/>
        </p:nvSpPr>
        <p:spPr>
          <a:xfrm>
            <a:off x="5198364" y="4681727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8"/>
          <p:cNvSpPr txBox="1"/>
          <p:nvPr/>
        </p:nvSpPr>
        <p:spPr>
          <a:xfrm>
            <a:off x="685800" y="4837175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CTA Submission &amp; Approval</a:t>
            </a:r>
            <a:endParaRPr/>
          </a:p>
        </p:txBody>
      </p:sp>
      <p:sp>
        <p:nvSpPr>
          <p:cNvPr id="570" name="Google Shape;570;p8"/>
          <p:cNvSpPr/>
          <p:nvPr/>
        </p:nvSpPr>
        <p:spPr>
          <a:xfrm>
            <a:off x="3108960" y="4992623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8"/>
          <p:cNvSpPr/>
          <p:nvPr/>
        </p:nvSpPr>
        <p:spPr>
          <a:xfrm>
            <a:off x="7360920" y="4855463"/>
            <a:ext cx="708660" cy="118872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8"/>
          <p:cNvSpPr/>
          <p:nvPr/>
        </p:nvSpPr>
        <p:spPr>
          <a:xfrm>
            <a:off x="7324344" y="4837175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8"/>
          <p:cNvSpPr txBox="1"/>
          <p:nvPr/>
        </p:nvSpPr>
        <p:spPr>
          <a:xfrm>
            <a:off x="685800" y="4992623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PK Study on Patients</a:t>
            </a:r>
            <a:endParaRPr/>
          </a:p>
        </p:txBody>
      </p:sp>
      <p:sp>
        <p:nvSpPr>
          <p:cNvPr id="574" name="Google Shape;574;p8"/>
          <p:cNvSpPr/>
          <p:nvPr/>
        </p:nvSpPr>
        <p:spPr>
          <a:xfrm>
            <a:off x="3108960" y="5148071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8"/>
          <p:cNvSpPr/>
          <p:nvPr/>
        </p:nvSpPr>
        <p:spPr>
          <a:xfrm>
            <a:off x="8069579" y="5010911"/>
            <a:ext cx="2125980" cy="118872"/>
          </a:xfrm>
          <a:prstGeom prst="roundRect">
            <a:avLst>
              <a:gd fmla="val 16667" name="adj"/>
            </a:avLst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9804654" y="4992623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 txBox="1"/>
          <p:nvPr/>
        </p:nvSpPr>
        <p:spPr>
          <a:xfrm>
            <a:off x="548640" y="5148071"/>
            <a:ext cx="2560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Health Authorities</a:t>
            </a:r>
            <a:endParaRPr/>
          </a:p>
        </p:txBody>
      </p:sp>
      <p:sp>
        <p:nvSpPr>
          <p:cNvPr id="578" name="Google Shape;578;p8"/>
          <p:cNvSpPr/>
          <p:nvPr/>
        </p:nvSpPr>
        <p:spPr>
          <a:xfrm>
            <a:off x="3108960" y="5303519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8"/>
          <p:cNvSpPr txBox="1"/>
          <p:nvPr/>
        </p:nvSpPr>
        <p:spPr>
          <a:xfrm>
            <a:off x="685800" y="5303519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EMA Filing &amp; Approval</a:t>
            </a:r>
            <a:endParaRPr/>
          </a:p>
        </p:txBody>
      </p:sp>
      <p:sp>
        <p:nvSpPr>
          <p:cNvPr id="580" name="Google Shape;580;p8"/>
          <p:cNvSpPr/>
          <p:nvPr/>
        </p:nvSpPr>
        <p:spPr>
          <a:xfrm>
            <a:off x="3108960" y="5458967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8"/>
          <p:cNvSpPr/>
          <p:nvPr/>
        </p:nvSpPr>
        <p:spPr>
          <a:xfrm>
            <a:off x="9486900" y="5321807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8"/>
          <p:cNvSpPr/>
          <p:nvPr/>
        </p:nvSpPr>
        <p:spPr>
          <a:xfrm>
            <a:off x="9450324" y="5303519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8"/>
          <p:cNvSpPr/>
          <p:nvPr/>
        </p:nvSpPr>
        <p:spPr>
          <a:xfrm>
            <a:off x="10513314" y="5303519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"/>
          <p:cNvSpPr txBox="1"/>
          <p:nvPr/>
        </p:nvSpPr>
        <p:spPr>
          <a:xfrm>
            <a:off x="685800" y="5458967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FDA Filing &amp; Approval</a:t>
            </a:r>
            <a:endParaRPr/>
          </a:p>
        </p:txBody>
      </p:sp>
      <p:sp>
        <p:nvSpPr>
          <p:cNvPr id="585" name="Google Shape;585;p8"/>
          <p:cNvSpPr/>
          <p:nvPr/>
        </p:nvSpPr>
        <p:spPr>
          <a:xfrm>
            <a:off x="3108960" y="5614415"/>
            <a:ext cx="8503920" cy="2743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8"/>
          <p:cNvSpPr/>
          <p:nvPr/>
        </p:nvSpPr>
        <p:spPr>
          <a:xfrm>
            <a:off x="9841230" y="5477255"/>
            <a:ext cx="1417320" cy="118872"/>
          </a:xfrm>
          <a:prstGeom prst="roundRect">
            <a:avLst>
              <a:gd fmla="val 16667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8"/>
          <p:cNvSpPr/>
          <p:nvPr/>
        </p:nvSpPr>
        <p:spPr>
          <a:xfrm>
            <a:off x="9804654" y="5458967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8"/>
          <p:cNvSpPr/>
          <p:nvPr/>
        </p:nvSpPr>
        <p:spPr>
          <a:xfrm>
            <a:off x="10867644" y="5458967"/>
            <a:ext cx="64008" cy="64008"/>
          </a:xfrm>
          <a:prstGeom prst="triangle">
            <a:avLst>
              <a:gd fmla="val 50000" name="adj"/>
            </a:avLst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8"/>
          <p:cNvSpPr txBox="1"/>
          <p:nvPr/>
        </p:nvSpPr>
        <p:spPr>
          <a:xfrm>
            <a:off x="7086600" y="598932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CTA</a:t>
            </a:r>
            <a:endParaRPr/>
          </a:p>
        </p:txBody>
      </p:sp>
      <p:sp>
        <p:nvSpPr>
          <p:cNvPr id="590" name="Google Shape;590;p8"/>
          <p:cNvSpPr txBox="1"/>
          <p:nvPr/>
        </p:nvSpPr>
        <p:spPr>
          <a:xfrm>
            <a:off x="9029700" y="5989320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EMA Submission</a:t>
            </a:r>
            <a:endParaRPr/>
          </a:p>
        </p:txBody>
      </p:sp>
      <p:sp>
        <p:nvSpPr>
          <p:cNvPr id="591" name="Google Shape;591;p8"/>
          <p:cNvSpPr txBox="1"/>
          <p:nvPr/>
        </p:nvSpPr>
        <p:spPr>
          <a:xfrm>
            <a:off x="9475469" y="6108192"/>
            <a:ext cx="7315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FDA Submission</a:t>
            </a:r>
            <a:endParaRPr/>
          </a:p>
        </p:txBody>
      </p:sp>
      <p:sp>
        <p:nvSpPr>
          <p:cNvPr id="592" name="Google Shape;592;p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Note: Timeline is preliminary and subject to R&amp;D feasibility assessment. Clinical program TBD after Scientific Advice. Overall investment ~$135M.</a:t>
            </a:r>
            <a:endParaRPr/>
          </a:p>
        </p:txBody>
      </p:sp>
      <p:sp>
        <p:nvSpPr>
          <p:cNvPr id="593" name="Google Shape;593;p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8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9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&amp; Market Access: Ustekinumab</a:t>
            </a:r>
            <a:endParaRPr/>
          </a:p>
        </p:txBody>
      </p:sp>
      <p:sp>
        <p:nvSpPr>
          <p:cNvPr id="601" name="Google Shape;601;p9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9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9"/>
          <p:cNvSpPr txBox="1"/>
          <p:nvPr/>
        </p:nvSpPr>
        <p:spPr>
          <a:xfrm>
            <a:off x="685800" y="1069848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Originator Pricing</a:t>
            </a:r>
            <a:endParaRPr/>
          </a:p>
        </p:txBody>
      </p:sp>
      <p:graphicFrame>
        <p:nvGraphicFramePr>
          <p:cNvPr id="604" name="Google Shape;604;p9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645925"/>
                <a:gridCol w="2103125"/>
                <a:gridCol w="2103125"/>
                <a:gridCol w="1645925"/>
                <a:gridCol w="35661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Price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Price (est.)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Gross-to-Net (%)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Reimbursement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 (WAC)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$17,489/vial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$11,368/vial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Medicare Part B / Comm. Medical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€3,285/PFS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€2,958/PFS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GKV reference price system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€2,940/PFS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€2,499/PFS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CEPS negotiated / T2A hospital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£2,147/PFS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£1,825/PFS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NICE TA recommended / NHS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Italy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€2,680/PFS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€2,278/PFS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AIFA Class H (hospital)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€2,450/PFS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€2,083/PFS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SNS / CIPM reference pricing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9"/>
          <p:cNvSpPr/>
          <p:nvPr/>
        </p:nvSpPr>
        <p:spPr>
          <a:xfrm>
            <a:off x="548640" y="3977639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9"/>
          <p:cNvSpPr txBox="1"/>
          <p:nvPr/>
        </p:nvSpPr>
        <p:spPr>
          <a:xfrm>
            <a:off x="685800" y="3995927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Biosimilar Market Access Strategy</a:t>
            </a:r>
            <a:endParaRPr/>
          </a:p>
        </p:txBody>
      </p:sp>
      <p:sp>
        <p:nvSpPr>
          <p:cNvPr id="607" name="Google Shape;607;p9"/>
          <p:cNvSpPr txBox="1"/>
          <p:nvPr/>
        </p:nvSpPr>
        <p:spPr>
          <a:xfrm>
            <a:off x="685800" y="4434840"/>
            <a:ext cx="10789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Expected biosimilar discount: 25–40% vs. originator (based on adalimumab precedent)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Estimated biosimilar price point: $10,500–$13,100 per vial (US market)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Interchangeability status: Sought for US (switching study planned); not applicable in EU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Tender market dynamics: EU hospital tenders favor early entrants; volume-driven pricing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Payer dynamics: PBM consolidation may limit formulary access; step therapy to IL-23 agents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Rebate structure: Janssen likely to offer aggressive rebates to defend share; 340B exposure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Formulary positioning: Medical benefit (Part B) reduces PBM influence; buy-and-bill channel</a:t>
            </a:r>
            <a:endParaRPr/>
          </a:p>
        </p:txBody>
      </p:sp>
      <p:sp>
        <p:nvSpPr>
          <p:cNvPr id="608" name="Google Shape;608;p9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IQVIA Analytics Link, CMS ASP files, national pricing databases, Q4 2025</a:t>
            </a:r>
            <a:endParaRPr/>
          </a:p>
        </p:txBody>
      </p:sp>
      <p:sp>
        <p:nvSpPr>
          <p:cNvPr id="609" name="Google Shape;609;p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9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0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Biosimilar Price vs. Cost Evolution: Ustekinumab</a:t>
            </a:r>
            <a:endParaRPr/>
          </a:p>
        </p:txBody>
      </p:sp>
      <p:sp>
        <p:nvSpPr>
          <p:cNvPr id="617" name="Google Shape;617;p10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"/>
          <p:cNvSpPr txBox="1"/>
          <p:nvPr/>
        </p:nvSpPr>
        <p:spPr>
          <a:xfrm>
            <a:off x="685800" y="932688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Mabxience Supply Price per Unit and Cost per Unit Evolution</a:t>
            </a:r>
            <a:endParaRPr/>
          </a:p>
        </p:txBody>
      </p:sp>
      <p:sp>
        <p:nvSpPr>
          <p:cNvPr id="620" name="Google Shape;620;p10"/>
          <p:cNvSpPr/>
          <p:nvPr/>
        </p:nvSpPr>
        <p:spPr>
          <a:xfrm>
            <a:off x="1371600" y="1506800"/>
            <a:ext cx="1200150" cy="1844736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0"/>
          <p:cNvSpPr/>
          <p:nvPr/>
        </p:nvSpPr>
        <p:spPr>
          <a:xfrm>
            <a:off x="2571750" y="1642001"/>
            <a:ext cx="1200150" cy="1712540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0"/>
          <p:cNvSpPr/>
          <p:nvPr/>
        </p:nvSpPr>
        <p:spPr>
          <a:xfrm>
            <a:off x="3771900" y="1762179"/>
            <a:ext cx="1200150" cy="1594615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0"/>
          <p:cNvSpPr/>
          <p:nvPr/>
        </p:nvSpPr>
        <p:spPr>
          <a:xfrm>
            <a:off x="4972050" y="1852313"/>
            <a:ext cx="1200150" cy="1505984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0"/>
          <p:cNvSpPr/>
          <p:nvPr/>
        </p:nvSpPr>
        <p:spPr>
          <a:xfrm>
            <a:off x="6172200" y="1897380"/>
            <a:ext cx="1200150" cy="1461668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"/>
          <p:cNvSpPr/>
          <p:nvPr/>
        </p:nvSpPr>
        <p:spPr>
          <a:xfrm>
            <a:off x="7372350" y="1942446"/>
            <a:ext cx="1200150" cy="1417352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8572500" y="1972491"/>
            <a:ext cx="1200150" cy="1388059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0"/>
          <p:cNvSpPr/>
          <p:nvPr/>
        </p:nvSpPr>
        <p:spPr>
          <a:xfrm>
            <a:off x="9772650" y="2002536"/>
            <a:ext cx="1200150" cy="1358765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0"/>
          <p:cNvSpPr/>
          <p:nvPr/>
        </p:nvSpPr>
        <p:spPr>
          <a:xfrm>
            <a:off x="1916811" y="1451936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0"/>
          <p:cNvSpPr txBox="1"/>
          <p:nvPr/>
        </p:nvSpPr>
        <p:spPr>
          <a:xfrm>
            <a:off x="1605915" y="130563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$13,100</a:t>
            </a:r>
            <a:endParaRPr/>
          </a:p>
        </p:txBody>
      </p:sp>
      <p:sp>
        <p:nvSpPr>
          <p:cNvPr id="630" name="Google Shape;630;p10"/>
          <p:cNvSpPr/>
          <p:nvPr/>
        </p:nvSpPr>
        <p:spPr>
          <a:xfrm>
            <a:off x="3116961" y="1587137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 txBox="1"/>
          <p:nvPr/>
        </p:nvSpPr>
        <p:spPr>
          <a:xfrm>
            <a:off x="2806065" y="1440833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$12,200</a:t>
            </a:r>
            <a:endParaRPr/>
          </a:p>
        </p:txBody>
      </p:sp>
      <p:sp>
        <p:nvSpPr>
          <p:cNvPr id="632" name="Google Shape;632;p10"/>
          <p:cNvSpPr/>
          <p:nvPr/>
        </p:nvSpPr>
        <p:spPr>
          <a:xfrm>
            <a:off x="4317111" y="1707315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0"/>
          <p:cNvSpPr txBox="1"/>
          <p:nvPr/>
        </p:nvSpPr>
        <p:spPr>
          <a:xfrm>
            <a:off x="4006214" y="1561011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$11,400</a:t>
            </a:r>
            <a:endParaRPr/>
          </a:p>
        </p:txBody>
      </p:sp>
      <p:sp>
        <p:nvSpPr>
          <p:cNvPr id="634" name="Google Shape;634;p10"/>
          <p:cNvSpPr/>
          <p:nvPr/>
        </p:nvSpPr>
        <p:spPr>
          <a:xfrm>
            <a:off x="5517261" y="1797449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0"/>
          <p:cNvSpPr txBox="1"/>
          <p:nvPr/>
        </p:nvSpPr>
        <p:spPr>
          <a:xfrm>
            <a:off x="5206365" y="1651145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$10,800</a:t>
            </a:r>
            <a:endParaRPr/>
          </a:p>
        </p:txBody>
      </p:sp>
      <p:sp>
        <p:nvSpPr>
          <p:cNvPr id="636" name="Google Shape;636;p10"/>
          <p:cNvSpPr/>
          <p:nvPr/>
        </p:nvSpPr>
        <p:spPr>
          <a:xfrm>
            <a:off x="6717411" y="1842516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0"/>
          <p:cNvSpPr txBox="1"/>
          <p:nvPr/>
        </p:nvSpPr>
        <p:spPr>
          <a:xfrm>
            <a:off x="6406515" y="169621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$10,500</a:t>
            </a:r>
            <a:endParaRPr/>
          </a:p>
        </p:txBody>
      </p:sp>
      <p:sp>
        <p:nvSpPr>
          <p:cNvPr id="638" name="Google Shape;638;p10"/>
          <p:cNvSpPr/>
          <p:nvPr/>
        </p:nvSpPr>
        <p:spPr>
          <a:xfrm>
            <a:off x="7917561" y="1887582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0"/>
          <p:cNvSpPr txBox="1"/>
          <p:nvPr/>
        </p:nvSpPr>
        <p:spPr>
          <a:xfrm>
            <a:off x="7606665" y="174127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$10,200</a:t>
            </a:r>
            <a:endParaRPr/>
          </a:p>
        </p:txBody>
      </p:sp>
      <p:sp>
        <p:nvSpPr>
          <p:cNvPr id="640" name="Google Shape;640;p10"/>
          <p:cNvSpPr/>
          <p:nvPr/>
        </p:nvSpPr>
        <p:spPr>
          <a:xfrm>
            <a:off x="9117711" y="1917627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0"/>
          <p:cNvSpPr txBox="1"/>
          <p:nvPr/>
        </p:nvSpPr>
        <p:spPr>
          <a:xfrm>
            <a:off x="8806815" y="1771323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$10,000</a:t>
            </a:r>
            <a:endParaRPr/>
          </a:p>
        </p:txBody>
      </p:sp>
      <p:sp>
        <p:nvSpPr>
          <p:cNvPr id="642" name="Google Shape;642;p10"/>
          <p:cNvSpPr/>
          <p:nvPr/>
        </p:nvSpPr>
        <p:spPr>
          <a:xfrm>
            <a:off x="10317861" y="1947672"/>
            <a:ext cx="109728" cy="109728"/>
          </a:xfrm>
          <a:prstGeom prst="ellipse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0"/>
          <p:cNvSpPr txBox="1"/>
          <p:nvPr/>
        </p:nvSpPr>
        <p:spPr>
          <a:xfrm>
            <a:off x="10006965" y="180136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$9,800</a:t>
            </a:r>
            <a:endParaRPr/>
          </a:p>
        </p:txBody>
      </p:sp>
      <p:sp>
        <p:nvSpPr>
          <p:cNvPr id="644" name="Google Shape;644;p10"/>
          <p:cNvSpPr/>
          <p:nvPr/>
        </p:nvSpPr>
        <p:spPr>
          <a:xfrm>
            <a:off x="1925955" y="3305817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0"/>
          <p:cNvSpPr txBox="1"/>
          <p:nvPr/>
        </p:nvSpPr>
        <p:spPr>
          <a:xfrm>
            <a:off x="1651635" y="342468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$820</a:t>
            </a:r>
            <a:endParaRPr/>
          </a:p>
        </p:txBody>
      </p:sp>
      <p:sp>
        <p:nvSpPr>
          <p:cNvPr id="646" name="Google Shape;646;p10"/>
          <p:cNvSpPr/>
          <p:nvPr/>
        </p:nvSpPr>
        <p:spPr>
          <a:xfrm>
            <a:off x="3126105" y="3308821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0"/>
          <p:cNvSpPr txBox="1"/>
          <p:nvPr/>
        </p:nvSpPr>
        <p:spPr>
          <a:xfrm>
            <a:off x="2851785" y="3427693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$800</a:t>
            </a:r>
            <a:endParaRPr/>
          </a:p>
        </p:txBody>
      </p:sp>
      <p:sp>
        <p:nvSpPr>
          <p:cNvPr id="648" name="Google Shape;648;p10"/>
          <p:cNvSpPr/>
          <p:nvPr/>
        </p:nvSpPr>
        <p:spPr>
          <a:xfrm>
            <a:off x="4326255" y="3311075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"/>
          <p:cNvSpPr txBox="1"/>
          <p:nvPr/>
        </p:nvSpPr>
        <p:spPr>
          <a:xfrm>
            <a:off x="4051935" y="3429947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$785</a:t>
            </a:r>
            <a:endParaRPr/>
          </a:p>
        </p:txBody>
      </p:sp>
      <p:sp>
        <p:nvSpPr>
          <p:cNvPr id="650" name="Google Shape;650;p10"/>
          <p:cNvSpPr/>
          <p:nvPr/>
        </p:nvSpPr>
        <p:spPr>
          <a:xfrm>
            <a:off x="5526405" y="3312577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0"/>
          <p:cNvSpPr txBox="1"/>
          <p:nvPr/>
        </p:nvSpPr>
        <p:spPr>
          <a:xfrm>
            <a:off x="5252085" y="343144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$775</a:t>
            </a:r>
            <a:endParaRPr/>
          </a:p>
        </p:txBody>
      </p:sp>
      <p:sp>
        <p:nvSpPr>
          <p:cNvPr id="652" name="Google Shape;652;p10"/>
          <p:cNvSpPr/>
          <p:nvPr/>
        </p:nvSpPr>
        <p:spPr>
          <a:xfrm>
            <a:off x="6726555" y="3313328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"/>
          <p:cNvSpPr txBox="1"/>
          <p:nvPr/>
        </p:nvSpPr>
        <p:spPr>
          <a:xfrm>
            <a:off x="6452235" y="343220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$770</a:t>
            </a:r>
            <a:endParaRPr/>
          </a:p>
        </p:txBody>
      </p:sp>
      <p:sp>
        <p:nvSpPr>
          <p:cNvPr id="654" name="Google Shape;654;p10"/>
          <p:cNvSpPr/>
          <p:nvPr/>
        </p:nvSpPr>
        <p:spPr>
          <a:xfrm>
            <a:off x="7926704" y="3314079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0"/>
          <p:cNvSpPr txBox="1"/>
          <p:nvPr/>
        </p:nvSpPr>
        <p:spPr>
          <a:xfrm>
            <a:off x="7652385" y="3432951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$765</a:t>
            </a:r>
            <a:endParaRPr/>
          </a:p>
        </p:txBody>
      </p:sp>
      <p:sp>
        <p:nvSpPr>
          <p:cNvPr id="656" name="Google Shape;656;p10"/>
          <p:cNvSpPr/>
          <p:nvPr/>
        </p:nvSpPr>
        <p:spPr>
          <a:xfrm>
            <a:off x="9126855" y="3314830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0"/>
          <p:cNvSpPr txBox="1"/>
          <p:nvPr/>
        </p:nvSpPr>
        <p:spPr>
          <a:xfrm>
            <a:off x="8852535" y="3433702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$760</a:t>
            </a:r>
            <a:endParaRPr/>
          </a:p>
        </p:txBody>
      </p:sp>
      <p:sp>
        <p:nvSpPr>
          <p:cNvPr id="658" name="Google Shape;658;p10"/>
          <p:cNvSpPr/>
          <p:nvPr/>
        </p:nvSpPr>
        <p:spPr>
          <a:xfrm>
            <a:off x="10327005" y="3315581"/>
            <a:ext cx="91440" cy="91440"/>
          </a:xfrm>
          <a:prstGeom prst="ellipse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"/>
          <p:cNvSpPr txBox="1"/>
          <p:nvPr/>
        </p:nvSpPr>
        <p:spPr>
          <a:xfrm>
            <a:off x="10052685" y="3434453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$755</a:t>
            </a:r>
            <a:endParaRPr/>
          </a:p>
        </p:txBody>
      </p:sp>
      <p:sp>
        <p:nvSpPr>
          <p:cNvPr id="660" name="Google Shape;660;p10"/>
          <p:cNvSpPr/>
          <p:nvPr/>
        </p:nvSpPr>
        <p:spPr>
          <a:xfrm>
            <a:off x="1371600" y="3474720"/>
            <a:ext cx="1200150" cy="22860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0"/>
          <p:cNvSpPr txBox="1"/>
          <p:nvPr/>
        </p:nvSpPr>
        <p:spPr>
          <a:xfrm>
            <a:off x="137160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662" name="Google Shape;662;p10"/>
          <p:cNvSpPr/>
          <p:nvPr/>
        </p:nvSpPr>
        <p:spPr>
          <a:xfrm>
            <a:off x="2571750" y="3474720"/>
            <a:ext cx="1200150" cy="228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0"/>
          <p:cNvSpPr txBox="1"/>
          <p:nvPr/>
        </p:nvSpPr>
        <p:spPr>
          <a:xfrm>
            <a:off x="257175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664" name="Google Shape;664;p10"/>
          <p:cNvSpPr/>
          <p:nvPr/>
        </p:nvSpPr>
        <p:spPr>
          <a:xfrm>
            <a:off x="3771900" y="3474720"/>
            <a:ext cx="1200150" cy="22860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0"/>
          <p:cNvSpPr txBox="1"/>
          <p:nvPr/>
        </p:nvSpPr>
        <p:spPr>
          <a:xfrm>
            <a:off x="377190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/>
          </a:p>
        </p:txBody>
      </p:sp>
      <p:sp>
        <p:nvSpPr>
          <p:cNvPr id="666" name="Google Shape;666;p10"/>
          <p:cNvSpPr/>
          <p:nvPr/>
        </p:nvSpPr>
        <p:spPr>
          <a:xfrm>
            <a:off x="4972050" y="3474720"/>
            <a:ext cx="1200150" cy="228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 txBox="1"/>
          <p:nvPr/>
        </p:nvSpPr>
        <p:spPr>
          <a:xfrm>
            <a:off x="497205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2031</a:t>
            </a:r>
            <a:endParaRPr/>
          </a:p>
        </p:txBody>
      </p:sp>
      <p:sp>
        <p:nvSpPr>
          <p:cNvPr id="668" name="Google Shape;668;p10"/>
          <p:cNvSpPr/>
          <p:nvPr/>
        </p:nvSpPr>
        <p:spPr>
          <a:xfrm>
            <a:off x="6172200" y="3474720"/>
            <a:ext cx="1200150" cy="22860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0"/>
          <p:cNvSpPr txBox="1"/>
          <p:nvPr/>
        </p:nvSpPr>
        <p:spPr>
          <a:xfrm>
            <a:off x="617220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2032</a:t>
            </a:r>
            <a:endParaRPr/>
          </a:p>
        </p:txBody>
      </p:sp>
      <p:sp>
        <p:nvSpPr>
          <p:cNvPr id="670" name="Google Shape;670;p10"/>
          <p:cNvSpPr/>
          <p:nvPr/>
        </p:nvSpPr>
        <p:spPr>
          <a:xfrm>
            <a:off x="7372350" y="3474720"/>
            <a:ext cx="1200150" cy="228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0"/>
          <p:cNvSpPr txBox="1"/>
          <p:nvPr/>
        </p:nvSpPr>
        <p:spPr>
          <a:xfrm>
            <a:off x="737235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2033</a:t>
            </a:r>
            <a:endParaRPr/>
          </a:p>
        </p:txBody>
      </p:sp>
      <p:sp>
        <p:nvSpPr>
          <p:cNvPr id="672" name="Google Shape;672;p10"/>
          <p:cNvSpPr/>
          <p:nvPr/>
        </p:nvSpPr>
        <p:spPr>
          <a:xfrm>
            <a:off x="8572500" y="3474720"/>
            <a:ext cx="1200150" cy="22860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0"/>
          <p:cNvSpPr txBox="1"/>
          <p:nvPr/>
        </p:nvSpPr>
        <p:spPr>
          <a:xfrm>
            <a:off x="857250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2034</a:t>
            </a:r>
            <a:endParaRPr/>
          </a:p>
        </p:txBody>
      </p:sp>
      <p:sp>
        <p:nvSpPr>
          <p:cNvPr id="674" name="Google Shape;674;p10"/>
          <p:cNvSpPr/>
          <p:nvPr/>
        </p:nvSpPr>
        <p:spPr>
          <a:xfrm>
            <a:off x="9772650" y="3474720"/>
            <a:ext cx="1200150" cy="228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0"/>
          <p:cNvSpPr txBox="1"/>
          <p:nvPr/>
        </p:nvSpPr>
        <p:spPr>
          <a:xfrm>
            <a:off x="9772650" y="3493008"/>
            <a:ext cx="12001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2035</a:t>
            </a:r>
            <a:endParaRPr/>
          </a:p>
        </p:txBody>
      </p:sp>
      <p:sp>
        <p:nvSpPr>
          <p:cNvPr id="676" name="Google Shape;676;p10"/>
          <p:cNvSpPr txBox="1"/>
          <p:nvPr/>
        </p:nvSpPr>
        <p:spPr>
          <a:xfrm>
            <a:off x="548640" y="21031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$/unit</a:t>
            </a:r>
            <a:endParaRPr/>
          </a:p>
        </p:txBody>
      </p:sp>
      <p:sp>
        <p:nvSpPr>
          <p:cNvPr id="677" name="Google Shape;677;p10"/>
          <p:cNvSpPr/>
          <p:nvPr/>
        </p:nvSpPr>
        <p:spPr>
          <a:xfrm>
            <a:off x="1463040" y="3794759"/>
            <a:ext cx="228600" cy="109728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0"/>
          <p:cNvSpPr txBox="1"/>
          <p:nvPr/>
        </p:nvSpPr>
        <p:spPr>
          <a:xfrm>
            <a:off x="1737360" y="377647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ASP per Unit</a:t>
            </a:r>
            <a:endParaRPr/>
          </a:p>
        </p:txBody>
      </p:sp>
      <p:sp>
        <p:nvSpPr>
          <p:cNvPr id="679" name="Google Shape;679;p10"/>
          <p:cNvSpPr/>
          <p:nvPr/>
        </p:nvSpPr>
        <p:spPr>
          <a:xfrm>
            <a:off x="3657600" y="3794759"/>
            <a:ext cx="228600" cy="109728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0"/>
          <p:cNvSpPr txBox="1"/>
          <p:nvPr/>
        </p:nvSpPr>
        <p:spPr>
          <a:xfrm>
            <a:off x="3931920" y="377647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COGs per Unit</a:t>
            </a:r>
            <a:endParaRPr/>
          </a:p>
        </p:txBody>
      </p:sp>
      <p:sp>
        <p:nvSpPr>
          <p:cNvPr id="681" name="Google Shape;681;p10"/>
          <p:cNvSpPr/>
          <p:nvPr/>
        </p:nvSpPr>
        <p:spPr>
          <a:xfrm>
            <a:off x="5852160" y="3794759"/>
            <a:ext cx="228600" cy="109728"/>
          </a:xfrm>
          <a:prstGeom prst="rect">
            <a:avLst/>
          </a:prstGeom>
          <a:solidFill>
            <a:srgbClr val="B8E0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"/>
          <p:cNvSpPr txBox="1"/>
          <p:nvPr/>
        </p:nvSpPr>
        <p:spPr>
          <a:xfrm>
            <a:off x="6126480" y="377647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/>
          </a:p>
        </p:txBody>
      </p:sp>
      <p:sp>
        <p:nvSpPr>
          <p:cNvPr id="683" name="Google Shape;683;p10"/>
          <p:cNvSpPr txBox="1"/>
          <p:nvPr/>
        </p:nvSpPr>
        <p:spPr>
          <a:xfrm>
            <a:off x="548640" y="3977639"/>
            <a:ext cx="10515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Note: ASP per unit = (total molecule sales to 3rd parties / total units sold to 3rd parties) * market assumptions</a:t>
            </a:r>
            <a:endParaRPr/>
          </a:p>
        </p:txBody>
      </p:sp>
      <p:sp>
        <p:nvSpPr>
          <p:cNvPr id="684" name="Google Shape;684;p10"/>
          <p:cNvSpPr/>
          <p:nvPr/>
        </p:nvSpPr>
        <p:spPr>
          <a:xfrm>
            <a:off x="548640" y="4160520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0"/>
          <p:cNvSpPr txBox="1"/>
          <p:nvPr/>
        </p:nvSpPr>
        <p:spPr>
          <a:xfrm>
            <a:off x="685800" y="4178807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Regional Average Selling Price per Unit ($)</a:t>
            </a:r>
            <a:endParaRPr/>
          </a:p>
        </p:txBody>
      </p:sp>
      <p:graphicFrame>
        <p:nvGraphicFramePr>
          <p:cNvPr id="686" name="Google Shape;686;p10"/>
          <p:cNvGraphicFramePr/>
          <p:nvPr/>
        </p:nvGraphicFramePr>
        <p:xfrm>
          <a:off x="548640" y="44988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371600"/>
                <a:gridCol w="1207000"/>
                <a:gridCol w="1207000"/>
                <a:gridCol w="1207000"/>
                <a:gridCol w="1207000"/>
                <a:gridCol w="1207000"/>
                <a:gridCol w="1207000"/>
                <a:gridCol w="1207000"/>
                <a:gridCol w="120700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10,800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10,500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9,800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EU5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4,700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9,800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8,500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7,300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6,600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5,700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5,500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3,700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3,600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3,500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3,700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2,900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7" name="Google Shape;687;p10"/>
          <p:cNvSpPr txBox="1"/>
          <p:nvPr/>
        </p:nvSpPr>
        <p:spPr>
          <a:xfrm>
            <a:off x="548640" y="5852160"/>
            <a:ext cx="11064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Assumptions:</a:t>
            </a:r>
            <a:endParaRPr/>
          </a:p>
        </p:txBody>
      </p:sp>
      <p:sp>
        <p:nvSpPr>
          <p:cNvPr id="688" name="Google Shape;688;p10"/>
          <p:cNvSpPr txBox="1"/>
          <p:nvPr/>
        </p:nvSpPr>
        <p:spPr>
          <a:xfrm>
            <a:off x="548640" y="5980176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• BS launch: EU Q1 2028, US Q3 2028, JP H1 2029, LatAm/RoW 2029   • Acc. discount by 2035: US 35% | EU5 58% | JP 55% | LatAm/RoW 51%   • Source: IQVIA MAT Q4 2025</a:t>
            </a:r>
            <a:endParaRPr/>
          </a:p>
        </p:txBody>
      </p:sp>
      <p:sp>
        <p:nvSpPr>
          <p:cNvPr id="689" name="Google Shape;689;p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0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1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Pipeline: Ustekinumab Biosimilars</a:t>
            </a:r>
            <a:endParaRPr/>
          </a:p>
        </p:txBody>
      </p:sp>
      <p:sp>
        <p:nvSpPr>
          <p:cNvPr id="697" name="Google Shape;697;p11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8" name="Google Shape;698;p11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737350"/>
                <a:gridCol w="1463050"/>
                <a:gridCol w="1828800"/>
                <a:gridCol w="1280150"/>
                <a:gridCol w="1554475"/>
                <a:gridCol w="32004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Code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Launch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Differentiation Strategy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Samsung Bioepis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SB17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 2025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First-to-market; interchangeable (US)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Amgen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ABP 654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 2025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Interchangeability; single-source mfg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Formycon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FYB206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EU/US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High-concentration formulation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Fresenius Kabi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MSB11455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Autoinjector device differentiation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Celltrion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CT-P43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1/2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Integrated manufacturing; price leader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Biocon/Viatris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BMX-UST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Emerging market access network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Coherus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CHS-1420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Preclinical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2029+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Novel excipient formulation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9" name="Google Shape;699;p11"/>
          <p:cNvSpPr/>
          <p:nvPr/>
        </p:nvSpPr>
        <p:spPr>
          <a:xfrm>
            <a:off x="548640" y="3977639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1"/>
          <p:cNvSpPr txBox="1"/>
          <p:nvPr/>
        </p:nvSpPr>
        <p:spPr>
          <a:xfrm>
            <a:off x="685800" y="3995927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Pipeline Summary</a:t>
            </a:r>
            <a:endParaRPr/>
          </a:p>
        </p:txBody>
      </p:sp>
      <p:sp>
        <p:nvSpPr>
          <p:cNvPr id="701" name="Google Shape;701;p11"/>
          <p:cNvSpPr txBox="1"/>
          <p:nvPr/>
        </p:nvSpPr>
        <p:spPr>
          <a:xfrm>
            <a:off x="685800" y="4434840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Total pipeline competitors: 7  |  Phase 3+: 4  |  Filed/Approved: 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First biosimilar launch: Samsung Bioepis SB17, H1 2025 (US &amp; EU)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Competition intensity assessment: Medium-High (3 Phase 3 programs advancing)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Key competitive threat: Samsung Bioepis SB17 — first-mover advantage, interchangeable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Market share projection: 45–55% biosimilar penetration by Year 3 post-launch</a:t>
            </a:r>
            <a:endParaRPr/>
          </a:p>
        </p:txBody>
      </p:sp>
      <p:sp>
        <p:nvSpPr>
          <p:cNvPr id="702" name="Google Shape;702;p11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Informa Pharma Intelligence, Cortellis, company press releases, Q1 2026</a:t>
            </a:r>
            <a:endParaRPr/>
          </a:p>
        </p:txBody>
      </p:sp>
      <p:sp>
        <p:nvSpPr>
          <p:cNvPr id="703" name="Google Shape;703;p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1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Assessment Matrix: Ustekinumab</a:t>
            </a:r>
            <a:endParaRPr/>
          </a:p>
        </p:txBody>
      </p:sp>
      <p:sp>
        <p:nvSpPr>
          <p:cNvPr id="711" name="Google Shape;711;p12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2" name="Google Shape;712;p12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371600"/>
                <a:gridCol w="2286000"/>
                <a:gridCol w="914400"/>
                <a:gridCol w="914400"/>
                <a:gridCol w="914400"/>
                <a:gridCol w="46634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Category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(1-5)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b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(1-5)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Score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 Strategy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IL-23 class erosion (guselkumab, risankizumab)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LOE window; diversified geography launch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Additional immunogenicity studies required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Early FDA Type II meeting; robust PK bridging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/ Patent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 method-of-use patent litigation (2029)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 carve-out strategy; design-around device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Manufacturing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Glycosylation consistency at commercial scale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 platform; extensive process characterization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Originator rebate wall; PBM formulary exclusion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Contracting strategy; medical benefit positioning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Biosimilarity demonstration for dual IL-12/23 MOA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Comprehensive analytical package; PASI endpoint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Supply Chain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Single-source PFS component supplier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Dual-source qualification; safety stock 6 months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Aggressive pricing from 3+ competitors at launch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Lean development model; flexible pricing corridor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713" name="Google Shape;713;p12"/>
          <p:cNvSpPr/>
          <p:nvPr/>
        </p:nvSpPr>
        <p:spPr>
          <a:xfrm>
            <a:off x="548640" y="4160520"/>
            <a:ext cx="11064240" cy="594360"/>
          </a:xfrm>
          <a:prstGeom prst="roundRect">
            <a:avLst>
              <a:gd fmla="val 16667" name="adj"/>
            </a:avLst>
          </a:prstGeom>
          <a:solidFill>
            <a:srgbClr val="E8EFF5"/>
          </a:solidFill>
          <a:ln cap="flat" cmpd="sng" w="1905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 txBox="1"/>
          <p:nvPr/>
        </p:nvSpPr>
        <p:spPr>
          <a:xfrm>
            <a:off x="731520" y="4206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Overall Risk Assessment:</a:t>
            </a:r>
            <a:endParaRPr/>
          </a:p>
        </p:txBody>
      </p:sp>
      <p:sp>
        <p:nvSpPr>
          <p:cNvPr id="715" name="Google Shape;715;p12"/>
          <p:cNvSpPr/>
          <p:nvPr/>
        </p:nvSpPr>
        <p:spPr>
          <a:xfrm>
            <a:off x="4114800" y="4224528"/>
            <a:ext cx="2286000" cy="457200"/>
          </a:xfrm>
          <a:prstGeom prst="roundRect">
            <a:avLst>
              <a:gd fmla="val 16667" name="adj"/>
            </a:avLst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"/>
          <p:cNvSpPr txBox="1"/>
          <p:nvPr/>
        </p:nvSpPr>
        <p:spPr>
          <a:xfrm>
            <a:off x="4114800" y="42519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717" name="Google Shape;717;p12"/>
          <p:cNvSpPr txBox="1"/>
          <p:nvPr/>
        </p:nvSpPr>
        <p:spPr>
          <a:xfrm>
            <a:off x="6675120" y="42062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Manageable risk profile. Key watch items: IL-23 class competition, UC patent litigation, and originator rebate strategy.</a:t>
            </a:r>
            <a:endParaRPr/>
          </a:p>
        </p:txBody>
      </p:sp>
      <p:sp>
        <p:nvSpPr>
          <p:cNvPr id="718" name="Google Shape;718;p12"/>
          <p:cNvSpPr txBox="1"/>
          <p:nvPr/>
        </p:nvSpPr>
        <p:spPr>
          <a:xfrm>
            <a:off x="548640" y="4892040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Risk Score = Likelihood x Impact  |  Low (1-6)  |  Medium (7-14)  |  High (15-25)</a:t>
            </a:r>
            <a:endParaRPr/>
          </a:p>
        </p:txBody>
      </p:sp>
      <p:sp>
        <p:nvSpPr>
          <p:cNvPr id="719" name="Google Shape;719;p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2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3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Framework: Ustekinumab Biosimilar</a:t>
            </a:r>
            <a:endParaRPr/>
          </a:p>
        </p:txBody>
      </p:sp>
      <p:sp>
        <p:nvSpPr>
          <p:cNvPr id="727" name="Google Shape;727;p1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3"/>
          <p:cNvSpPr txBox="1"/>
          <p:nvPr/>
        </p:nvSpPr>
        <p:spPr>
          <a:xfrm>
            <a:off x="685800" y="97840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Investment Parameters</a:t>
            </a:r>
            <a:endParaRPr/>
          </a:p>
        </p:txBody>
      </p:sp>
      <p:sp>
        <p:nvSpPr>
          <p:cNvPr id="730" name="Google Shape;730;p13"/>
          <p:cNvSpPr txBox="1"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Development Cost:</a:t>
            </a:r>
            <a:endParaRPr/>
          </a:p>
        </p:txBody>
      </p:sp>
      <p:sp>
        <p:nvSpPr>
          <p:cNvPr id="731" name="Google Shape;731;p13"/>
          <p:cNvSpPr txBox="1"/>
          <p:nvPr/>
        </p:nvSpPr>
        <p:spPr>
          <a:xfrm>
            <a:off x="3017520" y="13716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$135M total estimated investment</a:t>
            </a:r>
            <a:endParaRPr/>
          </a:p>
        </p:txBody>
      </p:sp>
      <p:sp>
        <p:nvSpPr>
          <p:cNvPr id="732" name="Google Shape;732;p13"/>
          <p:cNvSpPr txBox="1"/>
          <p:nvPr/>
        </p:nvSpPr>
        <p:spPr>
          <a:xfrm>
            <a:off x="685800" y="16276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Development Timeline:</a:t>
            </a:r>
            <a:endParaRPr/>
          </a:p>
        </p:txBody>
      </p:sp>
      <p:sp>
        <p:nvSpPr>
          <p:cNvPr id="733" name="Google Shape;733;p13"/>
          <p:cNvSpPr txBox="1"/>
          <p:nvPr/>
        </p:nvSpPr>
        <p:spPr>
          <a:xfrm>
            <a:off x="3017520" y="1627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5.5 years (cell line to BLA approval)</a:t>
            </a:r>
            <a:endParaRPr/>
          </a:p>
        </p:txBody>
      </p:sp>
      <p:sp>
        <p:nvSpPr>
          <p:cNvPr id="734" name="Google Shape;734;p13"/>
          <p:cNvSpPr txBox="1"/>
          <p:nvPr/>
        </p:nvSpPr>
        <p:spPr>
          <a:xfrm>
            <a:off x="685800" y="188366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Target Geographies:</a:t>
            </a:r>
            <a:endParaRPr/>
          </a:p>
        </p:txBody>
      </p:sp>
      <p:sp>
        <p:nvSpPr>
          <p:cNvPr id="735" name="Google Shape;735;p13"/>
          <p:cNvSpPr txBox="1"/>
          <p:nvPr/>
        </p:nvSpPr>
        <p:spPr>
          <a:xfrm>
            <a:off x="3017520" y="188366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US, EU5, Japan, LatAm, MENA</a:t>
            </a:r>
            <a:endParaRPr/>
          </a:p>
        </p:txBody>
      </p:sp>
      <p:sp>
        <p:nvSpPr>
          <p:cNvPr id="736" name="Google Shape;736;p13"/>
          <p:cNvSpPr txBox="1"/>
          <p:nvPr/>
        </p:nvSpPr>
        <p:spPr>
          <a:xfrm>
            <a:off x="685800" y="21396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Launch Sequence:</a:t>
            </a:r>
            <a:endParaRPr/>
          </a:p>
        </p:txBody>
      </p:sp>
      <p:sp>
        <p:nvSpPr>
          <p:cNvPr id="737" name="Google Shape;737;p13"/>
          <p:cNvSpPr txBox="1"/>
          <p:nvPr/>
        </p:nvSpPr>
        <p:spPr>
          <a:xfrm>
            <a:off x="3017520" y="21396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EU Q1 2028, US Q3 2028, Japan H1 2029</a:t>
            </a:r>
            <a:endParaRPr/>
          </a:p>
        </p:txBody>
      </p:sp>
      <p:sp>
        <p:nvSpPr>
          <p:cNvPr id="738" name="Google Shape;738;p13"/>
          <p:cNvSpPr txBox="1"/>
          <p:nvPr/>
        </p:nvSpPr>
        <p:spPr>
          <a:xfrm>
            <a:off x="685800" y="239572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COGS Estimate:</a:t>
            </a:r>
            <a:endParaRPr/>
          </a:p>
        </p:txBody>
      </p:sp>
      <p:sp>
        <p:nvSpPr>
          <p:cNvPr id="739" name="Google Shape;739;p13"/>
          <p:cNvSpPr txBox="1"/>
          <p:nvPr/>
        </p:nvSpPr>
        <p:spPr>
          <a:xfrm>
            <a:off x="3017520" y="239572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$820 per PFS unit (at commercial scale)</a:t>
            </a:r>
            <a:endParaRPr/>
          </a:p>
        </p:txBody>
      </p:sp>
      <p:sp>
        <p:nvSpPr>
          <p:cNvPr id="740" name="Google Shape;740;p13"/>
          <p:cNvSpPr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3"/>
          <p:cNvSpPr txBox="1"/>
          <p:nvPr/>
        </p:nvSpPr>
        <p:spPr>
          <a:xfrm>
            <a:off x="685800" y="271576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Preliminary mAbx Sales Forecast, M$</a:t>
            </a:r>
            <a:endParaRPr/>
          </a:p>
        </p:txBody>
      </p:sp>
      <p:sp>
        <p:nvSpPr>
          <p:cNvPr id="742" name="Google Shape;742;p13"/>
          <p:cNvSpPr/>
          <p:nvPr/>
        </p:nvSpPr>
        <p:spPr>
          <a:xfrm>
            <a:off x="640080" y="4597717"/>
            <a:ext cx="475488" cy="157162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"/>
          <p:cNvSpPr txBox="1"/>
          <p:nvPr/>
        </p:nvSpPr>
        <p:spPr>
          <a:xfrm>
            <a:off x="640080" y="4433125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744" name="Google Shape;744;p13"/>
          <p:cNvSpPr txBox="1"/>
          <p:nvPr/>
        </p:nvSpPr>
        <p:spPr>
          <a:xfrm>
            <a:off x="640080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/>
          </a:p>
        </p:txBody>
      </p:sp>
      <p:sp>
        <p:nvSpPr>
          <p:cNvPr id="745" name="Google Shape;745;p13"/>
          <p:cNvSpPr/>
          <p:nvPr/>
        </p:nvSpPr>
        <p:spPr>
          <a:xfrm>
            <a:off x="1170432" y="4189095"/>
            <a:ext cx="475488" cy="565784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 txBox="1"/>
          <p:nvPr/>
        </p:nvSpPr>
        <p:spPr>
          <a:xfrm>
            <a:off x="1170432" y="4024503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/>
          </a:p>
        </p:txBody>
      </p:sp>
      <p:sp>
        <p:nvSpPr>
          <p:cNvPr id="747" name="Google Shape;747;p13"/>
          <p:cNvSpPr txBox="1"/>
          <p:nvPr/>
        </p:nvSpPr>
        <p:spPr>
          <a:xfrm>
            <a:off x="1170432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/>
          </a:p>
        </p:txBody>
      </p:sp>
      <p:sp>
        <p:nvSpPr>
          <p:cNvPr id="748" name="Google Shape;748;p13"/>
          <p:cNvSpPr/>
          <p:nvPr/>
        </p:nvSpPr>
        <p:spPr>
          <a:xfrm>
            <a:off x="1700784" y="3749040"/>
            <a:ext cx="475488" cy="1005839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3"/>
          <p:cNvSpPr txBox="1"/>
          <p:nvPr/>
        </p:nvSpPr>
        <p:spPr>
          <a:xfrm>
            <a:off x="1700784" y="3584448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320</a:t>
            </a:r>
            <a:endParaRPr/>
          </a:p>
        </p:txBody>
      </p:sp>
      <p:sp>
        <p:nvSpPr>
          <p:cNvPr id="750" name="Google Shape;750;p13"/>
          <p:cNvSpPr txBox="1"/>
          <p:nvPr/>
        </p:nvSpPr>
        <p:spPr>
          <a:xfrm>
            <a:off x="1700784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/>
          </a:p>
        </p:txBody>
      </p:sp>
      <p:sp>
        <p:nvSpPr>
          <p:cNvPr id="751" name="Google Shape;751;p13"/>
          <p:cNvSpPr/>
          <p:nvPr/>
        </p:nvSpPr>
        <p:spPr>
          <a:xfrm>
            <a:off x="2231136" y="3246120"/>
            <a:ext cx="475488" cy="150876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3"/>
          <p:cNvSpPr txBox="1"/>
          <p:nvPr/>
        </p:nvSpPr>
        <p:spPr>
          <a:xfrm>
            <a:off x="2231136" y="3081528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480</a:t>
            </a:r>
            <a:endParaRPr/>
          </a:p>
        </p:txBody>
      </p:sp>
      <p:sp>
        <p:nvSpPr>
          <p:cNvPr id="753" name="Google Shape;753;p13"/>
          <p:cNvSpPr txBox="1"/>
          <p:nvPr/>
        </p:nvSpPr>
        <p:spPr>
          <a:xfrm>
            <a:off x="2231136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2031</a:t>
            </a:r>
            <a:endParaRPr/>
          </a:p>
        </p:txBody>
      </p:sp>
      <p:sp>
        <p:nvSpPr>
          <p:cNvPr id="754" name="Google Shape;754;p13"/>
          <p:cNvSpPr/>
          <p:nvPr/>
        </p:nvSpPr>
        <p:spPr>
          <a:xfrm>
            <a:off x="2761488" y="3340417"/>
            <a:ext cx="475488" cy="1414462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3"/>
          <p:cNvSpPr txBox="1"/>
          <p:nvPr/>
        </p:nvSpPr>
        <p:spPr>
          <a:xfrm>
            <a:off x="2761488" y="3175825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756" name="Google Shape;756;p13"/>
          <p:cNvSpPr txBox="1"/>
          <p:nvPr/>
        </p:nvSpPr>
        <p:spPr>
          <a:xfrm>
            <a:off x="2761488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2032</a:t>
            </a:r>
            <a:endParaRPr/>
          </a:p>
        </p:txBody>
      </p:sp>
      <p:sp>
        <p:nvSpPr>
          <p:cNvPr id="757" name="Google Shape;757;p13"/>
          <p:cNvSpPr/>
          <p:nvPr/>
        </p:nvSpPr>
        <p:spPr>
          <a:xfrm>
            <a:off x="3291840" y="3434715"/>
            <a:ext cx="475488" cy="1320164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3"/>
          <p:cNvSpPr txBox="1"/>
          <p:nvPr/>
        </p:nvSpPr>
        <p:spPr>
          <a:xfrm>
            <a:off x="3291840" y="3270123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420</a:t>
            </a:r>
            <a:endParaRPr/>
          </a:p>
        </p:txBody>
      </p:sp>
      <p:sp>
        <p:nvSpPr>
          <p:cNvPr id="759" name="Google Shape;759;p13"/>
          <p:cNvSpPr txBox="1"/>
          <p:nvPr/>
        </p:nvSpPr>
        <p:spPr>
          <a:xfrm>
            <a:off x="3291840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2033</a:t>
            </a:r>
            <a:endParaRPr/>
          </a:p>
        </p:txBody>
      </p:sp>
      <p:sp>
        <p:nvSpPr>
          <p:cNvPr id="760" name="Google Shape;760;p13"/>
          <p:cNvSpPr/>
          <p:nvPr/>
        </p:nvSpPr>
        <p:spPr>
          <a:xfrm>
            <a:off x="3822192" y="3560445"/>
            <a:ext cx="475488" cy="1194435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3"/>
          <p:cNvSpPr txBox="1"/>
          <p:nvPr/>
        </p:nvSpPr>
        <p:spPr>
          <a:xfrm>
            <a:off x="3822192" y="3395853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380</a:t>
            </a:r>
            <a:endParaRPr/>
          </a:p>
        </p:txBody>
      </p:sp>
      <p:sp>
        <p:nvSpPr>
          <p:cNvPr id="762" name="Google Shape;762;p13"/>
          <p:cNvSpPr txBox="1"/>
          <p:nvPr/>
        </p:nvSpPr>
        <p:spPr>
          <a:xfrm>
            <a:off x="3822192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2034</a:t>
            </a:r>
            <a:endParaRPr/>
          </a:p>
        </p:txBody>
      </p:sp>
      <p:sp>
        <p:nvSpPr>
          <p:cNvPr id="763" name="Google Shape;763;p13"/>
          <p:cNvSpPr/>
          <p:nvPr/>
        </p:nvSpPr>
        <p:spPr>
          <a:xfrm>
            <a:off x="4352544" y="3654742"/>
            <a:ext cx="475488" cy="1100137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3"/>
          <p:cNvSpPr txBox="1"/>
          <p:nvPr/>
        </p:nvSpPr>
        <p:spPr>
          <a:xfrm>
            <a:off x="4352544" y="3490150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765" name="Google Shape;765;p13"/>
          <p:cNvSpPr txBox="1"/>
          <p:nvPr/>
        </p:nvSpPr>
        <p:spPr>
          <a:xfrm>
            <a:off x="4352544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2035</a:t>
            </a:r>
            <a:endParaRPr/>
          </a:p>
        </p:txBody>
      </p:sp>
      <p:sp>
        <p:nvSpPr>
          <p:cNvPr id="766" name="Google Shape;766;p13"/>
          <p:cNvSpPr/>
          <p:nvPr/>
        </p:nvSpPr>
        <p:spPr>
          <a:xfrm>
            <a:off x="4882896" y="3749040"/>
            <a:ext cx="475488" cy="1005839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3"/>
          <p:cNvSpPr txBox="1"/>
          <p:nvPr/>
        </p:nvSpPr>
        <p:spPr>
          <a:xfrm>
            <a:off x="4882896" y="3584448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320</a:t>
            </a:r>
            <a:endParaRPr/>
          </a:p>
        </p:txBody>
      </p:sp>
      <p:sp>
        <p:nvSpPr>
          <p:cNvPr id="768" name="Google Shape;768;p13"/>
          <p:cNvSpPr txBox="1"/>
          <p:nvPr/>
        </p:nvSpPr>
        <p:spPr>
          <a:xfrm>
            <a:off x="4882896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2036</a:t>
            </a:r>
            <a:endParaRPr/>
          </a:p>
        </p:txBody>
      </p:sp>
      <p:sp>
        <p:nvSpPr>
          <p:cNvPr id="769" name="Google Shape;769;p13"/>
          <p:cNvSpPr/>
          <p:nvPr/>
        </p:nvSpPr>
        <p:spPr>
          <a:xfrm>
            <a:off x="5413248" y="3811905"/>
            <a:ext cx="475488" cy="942975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3"/>
          <p:cNvSpPr txBox="1"/>
          <p:nvPr/>
        </p:nvSpPr>
        <p:spPr>
          <a:xfrm>
            <a:off x="5413248" y="3647313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771" name="Google Shape;771;p13"/>
          <p:cNvSpPr txBox="1"/>
          <p:nvPr/>
        </p:nvSpPr>
        <p:spPr>
          <a:xfrm>
            <a:off x="5413248" y="4773168"/>
            <a:ext cx="475488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2037</a:t>
            </a:r>
            <a:endParaRPr/>
          </a:p>
        </p:txBody>
      </p:sp>
      <p:sp>
        <p:nvSpPr>
          <p:cNvPr id="772" name="Google Shape;772;p13"/>
          <p:cNvSpPr/>
          <p:nvPr/>
        </p:nvSpPr>
        <p:spPr>
          <a:xfrm>
            <a:off x="841247" y="4685973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1371600" y="457820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3"/>
          <p:cNvSpPr/>
          <p:nvPr/>
        </p:nvSpPr>
        <p:spPr>
          <a:xfrm>
            <a:off x="1901952" y="4405775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3"/>
          <p:cNvSpPr/>
          <p:nvPr/>
        </p:nvSpPr>
        <p:spPr>
          <a:xfrm>
            <a:off x="2432304" y="4125576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3"/>
          <p:cNvSpPr/>
          <p:nvPr/>
        </p:nvSpPr>
        <p:spPr>
          <a:xfrm>
            <a:off x="2962656" y="3802271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3"/>
          <p:cNvSpPr/>
          <p:nvPr/>
        </p:nvSpPr>
        <p:spPr>
          <a:xfrm>
            <a:off x="3493008" y="3543626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3"/>
          <p:cNvSpPr/>
          <p:nvPr/>
        </p:nvSpPr>
        <p:spPr>
          <a:xfrm>
            <a:off x="4023360" y="3371196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3"/>
          <p:cNvSpPr/>
          <p:nvPr/>
        </p:nvSpPr>
        <p:spPr>
          <a:xfrm>
            <a:off x="4553712" y="3263428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3"/>
          <p:cNvSpPr/>
          <p:nvPr/>
        </p:nvSpPr>
        <p:spPr>
          <a:xfrm>
            <a:off x="5084064" y="3220320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3"/>
          <p:cNvSpPr/>
          <p:nvPr/>
        </p:nvSpPr>
        <p:spPr>
          <a:xfrm>
            <a:off x="5614416" y="3220320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3"/>
          <p:cNvSpPr/>
          <p:nvPr/>
        </p:nvSpPr>
        <p:spPr>
          <a:xfrm>
            <a:off x="640080" y="4983480"/>
            <a:ext cx="228600" cy="109728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3"/>
          <p:cNvSpPr txBox="1"/>
          <p:nvPr/>
        </p:nvSpPr>
        <p:spPr>
          <a:xfrm>
            <a:off x="914400" y="4965192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17A2B8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/>
          </a:p>
        </p:txBody>
      </p:sp>
      <p:sp>
        <p:nvSpPr>
          <p:cNvPr id="784" name="Google Shape;784;p13"/>
          <p:cNvSpPr/>
          <p:nvPr/>
        </p:nvSpPr>
        <p:spPr>
          <a:xfrm>
            <a:off x="2103120" y="5001768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3"/>
          <p:cNvSpPr txBox="1"/>
          <p:nvPr/>
        </p:nvSpPr>
        <p:spPr>
          <a:xfrm>
            <a:off x="2286000" y="4965192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Acc. Cashflow</a:t>
            </a:r>
            <a:endParaRPr/>
          </a:p>
        </p:txBody>
      </p:sp>
      <p:sp>
        <p:nvSpPr>
          <p:cNvPr id="786" name="Google Shape;786;p13"/>
          <p:cNvSpPr/>
          <p:nvPr/>
        </p:nvSpPr>
        <p:spPr>
          <a:xfrm>
            <a:off x="6400800" y="96012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3"/>
          <p:cNvSpPr txBox="1"/>
          <p:nvPr/>
        </p:nvSpPr>
        <p:spPr>
          <a:xfrm>
            <a:off x="6537960" y="97840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Program Attractiveness</a:t>
            </a:r>
            <a:endParaRPr/>
          </a:p>
        </p:txBody>
      </p:sp>
      <p:sp>
        <p:nvSpPr>
          <p:cNvPr id="788" name="Google Shape;788;p13"/>
          <p:cNvSpPr/>
          <p:nvPr/>
        </p:nvSpPr>
        <p:spPr>
          <a:xfrm>
            <a:off x="6537960" y="1371600"/>
            <a:ext cx="24688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3"/>
          <p:cNvSpPr/>
          <p:nvPr/>
        </p:nvSpPr>
        <p:spPr>
          <a:xfrm>
            <a:off x="6537960" y="1371600"/>
            <a:ext cx="2468880" cy="54864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3"/>
          <p:cNvSpPr txBox="1"/>
          <p:nvPr/>
        </p:nvSpPr>
        <p:spPr>
          <a:xfrm>
            <a:off x="6675120" y="15087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$385M</a:t>
            </a:r>
            <a:endParaRPr/>
          </a:p>
        </p:txBody>
      </p:sp>
      <p:sp>
        <p:nvSpPr>
          <p:cNvPr id="791" name="Google Shape;791;p13"/>
          <p:cNvSpPr txBox="1"/>
          <p:nvPr/>
        </p:nvSpPr>
        <p:spPr>
          <a:xfrm>
            <a:off x="6675120" y="1874519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Net Present Value (NPV)</a:t>
            </a:r>
            <a:endParaRPr/>
          </a:p>
        </p:txBody>
      </p:sp>
      <p:sp>
        <p:nvSpPr>
          <p:cNvPr id="792" name="Google Shape;792;p13"/>
          <p:cNvSpPr/>
          <p:nvPr/>
        </p:nvSpPr>
        <p:spPr>
          <a:xfrm>
            <a:off x="9235440" y="1371600"/>
            <a:ext cx="24688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3"/>
          <p:cNvSpPr/>
          <p:nvPr/>
        </p:nvSpPr>
        <p:spPr>
          <a:xfrm>
            <a:off x="9235440" y="1371600"/>
            <a:ext cx="2468880" cy="54864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3"/>
          <p:cNvSpPr txBox="1"/>
          <p:nvPr/>
        </p:nvSpPr>
        <p:spPr>
          <a:xfrm>
            <a:off x="9372600" y="15087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/>
          </a:p>
        </p:txBody>
      </p:sp>
      <p:sp>
        <p:nvSpPr>
          <p:cNvPr id="795" name="Google Shape;795;p13"/>
          <p:cNvSpPr txBox="1"/>
          <p:nvPr/>
        </p:nvSpPr>
        <p:spPr>
          <a:xfrm>
            <a:off x="9372600" y="1874519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Internal Rate of Return</a:t>
            </a:r>
            <a:endParaRPr/>
          </a:p>
        </p:txBody>
      </p:sp>
      <p:sp>
        <p:nvSpPr>
          <p:cNvPr id="796" name="Google Shape;796;p13"/>
          <p:cNvSpPr/>
          <p:nvPr/>
        </p:nvSpPr>
        <p:spPr>
          <a:xfrm>
            <a:off x="6537960" y="2286000"/>
            <a:ext cx="24688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3"/>
          <p:cNvSpPr/>
          <p:nvPr/>
        </p:nvSpPr>
        <p:spPr>
          <a:xfrm>
            <a:off x="6537960" y="2286000"/>
            <a:ext cx="2468880" cy="54864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3"/>
          <p:cNvSpPr txBox="1"/>
          <p:nvPr/>
        </p:nvSpPr>
        <p:spPr>
          <a:xfrm>
            <a:off x="6675120" y="24231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4.8 yrs</a:t>
            </a:r>
            <a:endParaRPr/>
          </a:p>
        </p:txBody>
      </p:sp>
      <p:sp>
        <p:nvSpPr>
          <p:cNvPr id="799" name="Google Shape;799;p13"/>
          <p:cNvSpPr txBox="1"/>
          <p:nvPr/>
        </p:nvSpPr>
        <p:spPr>
          <a:xfrm>
            <a:off x="6675120" y="2788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Payback Period</a:t>
            </a:r>
            <a:endParaRPr/>
          </a:p>
        </p:txBody>
      </p:sp>
      <p:sp>
        <p:nvSpPr>
          <p:cNvPr id="800" name="Google Shape;800;p13"/>
          <p:cNvSpPr/>
          <p:nvPr/>
        </p:nvSpPr>
        <p:spPr>
          <a:xfrm>
            <a:off x="9235440" y="2286000"/>
            <a:ext cx="24688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9235440" y="2286000"/>
            <a:ext cx="2468880" cy="54864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3"/>
          <p:cNvSpPr txBox="1"/>
          <p:nvPr/>
        </p:nvSpPr>
        <p:spPr>
          <a:xfrm>
            <a:off x="9372600" y="24231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78%</a:t>
            </a:r>
            <a:endParaRPr/>
          </a:p>
        </p:txBody>
      </p:sp>
      <p:sp>
        <p:nvSpPr>
          <p:cNvPr id="803" name="Google Shape;803;p13"/>
          <p:cNvSpPr txBox="1"/>
          <p:nvPr/>
        </p:nvSpPr>
        <p:spPr>
          <a:xfrm>
            <a:off x="9372600" y="2788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Prob. Technical Success</a:t>
            </a:r>
            <a:endParaRPr/>
          </a:p>
        </p:txBody>
      </p:sp>
      <p:sp>
        <p:nvSpPr>
          <p:cNvPr id="804" name="Google Shape;804;p13"/>
          <p:cNvSpPr/>
          <p:nvPr/>
        </p:nvSpPr>
        <p:spPr>
          <a:xfrm>
            <a:off x="6537960" y="3200400"/>
            <a:ext cx="5212080" cy="320040"/>
          </a:xfrm>
          <a:prstGeom prst="roundRect">
            <a:avLst>
              <a:gd fmla="val 16667" name="adj"/>
            </a:avLst>
          </a:prstGeom>
          <a:solidFill>
            <a:srgbClr val="FFFFE0"/>
          </a:solidFill>
          <a:ln cap="flat" cmpd="sng" w="127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3"/>
          <p:cNvSpPr txBox="1"/>
          <p:nvPr/>
        </p:nvSpPr>
        <p:spPr>
          <a:xfrm>
            <a:off x="6675120" y="32278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856A04"/>
                </a:solidFill>
                <a:latin typeface="Calibri"/>
                <a:ea typeface="Calibri"/>
                <a:cs typeface="Calibri"/>
                <a:sym typeface="Calibri"/>
              </a:rPr>
              <a:t>PRELIMINARY — Further analysis required to finetune assessment</a:t>
            </a:r>
            <a:endParaRPr/>
          </a:p>
        </p:txBody>
      </p:sp>
      <p:sp>
        <p:nvSpPr>
          <p:cNvPr id="806" name="Google Shape;806;p13"/>
          <p:cNvSpPr/>
          <p:nvPr/>
        </p:nvSpPr>
        <p:spPr>
          <a:xfrm>
            <a:off x="6400800" y="370332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3"/>
          <p:cNvSpPr txBox="1"/>
          <p:nvPr/>
        </p:nvSpPr>
        <p:spPr>
          <a:xfrm>
            <a:off x="6537960" y="3721607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Program Costs: $135M</a:t>
            </a:r>
            <a:endParaRPr/>
          </a:p>
        </p:txBody>
      </p:sp>
      <p:sp>
        <p:nvSpPr>
          <p:cNvPr id="808" name="Google Shape;808;p13"/>
          <p:cNvSpPr/>
          <p:nvPr/>
        </p:nvSpPr>
        <p:spPr>
          <a:xfrm>
            <a:off x="6537960" y="4114800"/>
            <a:ext cx="2067560" cy="36576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3"/>
          <p:cNvSpPr txBox="1"/>
          <p:nvPr/>
        </p:nvSpPr>
        <p:spPr>
          <a:xfrm>
            <a:off x="6583680" y="4160520"/>
            <a:ext cx="197611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/>
          </a:p>
        </p:txBody>
      </p:sp>
      <p:sp>
        <p:nvSpPr>
          <p:cNvPr id="810" name="Google Shape;810;p13"/>
          <p:cNvSpPr txBox="1"/>
          <p:nvPr/>
        </p:nvSpPr>
        <p:spPr>
          <a:xfrm>
            <a:off x="6583680" y="4297680"/>
            <a:ext cx="197611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$55M</a:t>
            </a:r>
            <a:endParaRPr/>
          </a:p>
        </p:txBody>
      </p:sp>
      <p:sp>
        <p:nvSpPr>
          <p:cNvPr id="811" name="Google Shape;811;p13"/>
          <p:cNvSpPr/>
          <p:nvPr/>
        </p:nvSpPr>
        <p:spPr>
          <a:xfrm>
            <a:off x="8605520" y="4114800"/>
            <a:ext cx="1315719" cy="365760"/>
          </a:xfrm>
          <a:prstGeom prst="rect">
            <a:avLst/>
          </a:prstGeom>
          <a:solidFill>
            <a:srgbClr val="17A2B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"/>
          <p:cNvSpPr txBox="1"/>
          <p:nvPr/>
        </p:nvSpPr>
        <p:spPr>
          <a:xfrm>
            <a:off x="8651240" y="4160520"/>
            <a:ext cx="12242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813" name="Google Shape;813;p13"/>
          <p:cNvSpPr txBox="1"/>
          <p:nvPr/>
        </p:nvSpPr>
        <p:spPr>
          <a:xfrm>
            <a:off x="8651240" y="4297680"/>
            <a:ext cx="12242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$35M</a:t>
            </a:r>
            <a:endParaRPr/>
          </a:p>
        </p:txBody>
      </p:sp>
      <p:sp>
        <p:nvSpPr>
          <p:cNvPr id="814" name="Google Shape;814;p13"/>
          <p:cNvSpPr/>
          <p:nvPr/>
        </p:nvSpPr>
        <p:spPr>
          <a:xfrm>
            <a:off x="9921240" y="4114800"/>
            <a:ext cx="676656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3"/>
          <p:cNvSpPr txBox="1"/>
          <p:nvPr/>
        </p:nvSpPr>
        <p:spPr>
          <a:xfrm>
            <a:off x="9966960" y="4160520"/>
            <a:ext cx="58521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</a:t>
            </a:r>
            <a:endParaRPr/>
          </a:p>
        </p:txBody>
      </p:sp>
      <p:sp>
        <p:nvSpPr>
          <p:cNvPr id="816" name="Google Shape;816;p13"/>
          <p:cNvSpPr txBox="1"/>
          <p:nvPr/>
        </p:nvSpPr>
        <p:spPr>
          <a:xfrm>
            <a:off x="9966960" y="4297680"/>
            <a:ext cx="58521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$18M</a:t>
            </a:r>
            <a:endParaRPr/>
          </a:p>
        </p:txBody>
      </p:sp>
      <p:sp>
        <p:nvSpPr>
          <p:cNvPr id="817" name="Google Shape;817;p13"/>
          <p:cNvSpPr/>
          <p:nvPr/>
        </p:nvSpPr>
        <p:spPr>
          <a:xfrm>
            <a:off x="10597896" y="4114800"/>
            <a:ext cx="563879" cy="365760"/>
          </a:xfrm>
          <a:prstGeom prst="rect">
            <a:avLst/>
          </a:prstGeom>
          <a:solidFill>
            <a:srgbClr val="7FBF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3"/>
          <p:cNvSpPr txBox="1"/>
          <p:nvPr/>
        </p:nvSpPr>
        <p:spPr>
          <a:xfrm>
            <a:off x="10643616" y="4160520"/>
            <a:ext cx="47243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/>
          </a:p>
        </p:txBody>
      </p:sp>
      <p:sp>
        <p:nvSpPr>
          <p:cNvPr id="819" name="Google Shape;819;p13"/>
          <p:cNvSpPr txBox="1"/>
          <p:nvPr/>
        </p:nvSpPr>
        <p:spPr>
          <a:xfrm>
            <a:off x="10643616" y="4297680"/>
            <a:ext cx="47243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$15M</a:t>
            </a:r>
            <a:endParaRPr/>
          </a:p>
        </p:txBody>
      </p:sp>
      <p:sp>
        <p:nvSpPr>
          <p:cNvPr id="820" name="Google Shape;820;p13"/>
          <p:cNvSpPr/>
          <p:nvPr/>
        </p:nvSpPr>
        <p:spPr>
          <a:xfrm>
            <a:off x="11161776" y="4114800"/>
            <a:ext cx="451104" cy="365760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3"/>
          <p:cNvSpPr/>
          <p:nvPr/>
        </p:nvSpPr>
        <p:spPr>
          <a:xfrm>
            <a:off x="6400800" y="466344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3"/>
          <p:cNvSpPr txBox="1"/>
          <p:nvPr/>
        </p:nvSpPr>
        <p:spPr>
          <a:xfrm>
            <a:off x="6537960" y="4681727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Milestones per Partner</a:t>
            </a:r>
            <a:endParaRPr/>
          </a:p>
        </p:txBody>
      </p:sp>
      <p:graphicFrame>
        <p:nvGraphicFramePr>
          <p:cNvPr id="823" name="Google Shape;823;p13"/>
          <p:cNvGraphicFramePr/>
          <p:nvPr/>
        </p:nvGraphicFramePr>
        <p:xfrm>
          <a:off x="6400800" y="5010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1005850"/>
                <a:gridCol w="1097275"/>
                <a:gridCol w="1097275"/>
                <a:gridCol w="1097275"/>
                <a:gridCol w="10972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Value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Upfront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US/EU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LatAm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824" name="Google Shape;824;p13"/>
          <p:cNvSpPr txBox="1"/>
          <p:nvPr/>
        </p:nvSpPr>
        <p:spPr>
          <a:xfrm>
            <a:off x="6400800" y="5989320"/>
            <a:ext cx="5394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Global partnership not started yet. Range $75M–$85M. DWP phasing to be adjusted to cover clinical program.</a:t>
            </a:r>
            <a:endParaRPr/>
          </a:p>
        </p:txBody>
      </p:sp>
      <p:sp>
        <p:nvSpPr>
          <p:cNvPr id="825" name="Google Shape;825;p13"/>
          <p:cNvSpPr txBox="1"/>
          <p:nvPr/>
        </p:nvSpPr>
        <p:spPr>
          <a:xfrm>
            <a:off x="548640" y="557784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Note: Financial projections based on base-case assumptions. Discount rate: 10%. NPV from signature till 10-yr sales. All values in USD.</a:t>
            </a:r>
            <a:endParaRPr/>
          </a:p>
        </p:txBody>
      </p:sp>
      <p:sp>
        <p:nvSpPr>
          <p:cNvPr id="826" name="Google Shape;826;p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3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4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Scoring &amp; Recommendation: Ustekinumab</a:t>
            </a:r>
            <a:endParaRPr/>
          </a:p>
        </p:txBody>
      </p:sp>
      <p:sp>
        <p:nvSpPr>
          <p:cNvPr id="834" name="Google Shape;834;p1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4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4"/>
          <p:cNvSpPr txBox="1"/>
          <p:nvPr/>
        </p:nvSpPr>
        <p:spPr>
          <a:xfrm>
            <a:off x="685800" y="1024128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Scorecard (8 Criteria)</a:t>
            </a:r>
            <a:endParaRPr/>
          </a:p>
        </p:txBody>
      </p:sp>
      <p:sp>
        <p:nvSpPr>
          <p:cNvPr id="837" name="Google Shape;837;p14"/>
          <p:cNvSpPr/>
          <p:nvPr/>
        </p:nvSpPr>
        <p:spPr>
          <a:xfrm>
            <a:off x="548640" y="141732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4"/>
          <p:cNvSpPr/>
          <p:nvPr/>
        </p:nvSpPr>
        <p:spPr>
          <a:xfrm>
            <a:off x="548640" y="141732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4"/>
          <p:cNvSpPr txBox="1"/>
          <p:nvPr/>
        </p:nvSpPr>
        <p:spPr>
          <a:xfrm>
            <a:off x="621792" y="14264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/>
          </a:p>
        </p:txBody>
      </p:sp>
      <p:sp>
        <p:nvSpPr>
          <p:cNvPr id="840" name="Google Shape;840;p14"/>
          <p:cNvSpPr txBox="1"/>
          <p:nvPr/>
        </p:nvSpPr>
        <p:spPr>
          <a:xfrm>
            <a:off x="2286000" y="1435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20%</a:t>
            </a:r>
            <a:endParaRPr/>
          </a:p>
        </p:txBody>
      </p:sp>
      <p:sp>
        <p:nvSpPr>
          <p:cNvPr id="841" name="Google Shape;841;p14"/>
          <p:cNvSpPr txBox="1"/>
          <p:nvPr/>
        </p:nvSpPr>
        <p:spPr>
          <a:xfrm>
            <a:off x="640080" y="1737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/>
          </a:p>
        </p:txBody>
      </p:sp>
      <p:sp>
        <p:nvSpPr>
          <p:cNvPr id="842" name="Google Shape;842;p14"/>
          <p:cNvSpPr txBox="1"/>
          <p:nvPr/>
        </p:nvSpPr>
        <p:spPr>
          <a:xfrm>
            <a:off x="640080" y="205740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$10.9B global market; top-5 biologic by revenue</a:t>
            </a:r>
            <a:endParaRPr/>
          </a:p>
        </p:txBody>
      </p:sp>
      <p:sp>
        <p:nvSpPr>
          <p:cNvPr id="843" name="Google Shape;843;p14"/>
          <p:cNvSpPr/>
          <p:nvPr/>
        </p:nvSpPr>
        <p:spPr>
          <a:xfrm>
            <a:off x="3291840" y="141732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4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4"/>
          <p:cNvSpPr txBox="1"/>
          <p:nvPr/>
        </p:nvSpPr>
        <p:spPr>
          <a:xfrm>
            <a:off x="3364992" y="14264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Growth</a:t>
            </a:r>
            <a:endParaRPr/>
          </a:p>
        </p:txBody>
      </p:sp>
      <p:sp>
        <p:nvSpPr>
          <p:cNvPr id="846" name="Google Shape;846;p14"/>
          <p:cNvSpPr txBox="1"/>
          <p:nvPr/>
        </p:nvSpPr>
        <p:spPr>
          <a:xfrm>
            <a:off x="5029200" y="1435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10%</a:t>
            </a:r>
            <a:endParaRPr/>
          </a:p>
        </p:txBody>
      </p:sp>
      <p:sp>
        <p:nvSpPr>
          <p:cNvPr id="847" name="Google Shape;847;p14"/>
          <p:cNvSpPr txBox="1"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/>
          </a:p>
        </p:txBody>
      </p:sp>
      <p:sp>
        <p:nvSpPr>
          <p:cNvPr id="848" name="Google Shape;848;p14"/>
          <p:cNvSpPr txBox="1"/>
          <p:nvPr/>
        </p:nvSpPr>
        <p:spPr>
          <a:xfrm>
            <a:off x="3383280" y="205740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-3.2% CAGR; declining due to biosimilar erosion</a:t>
            </a:r>
            <a:endParaRPr/>
          </a:p>
        </p:txBody>
      </p:sp>
      <p:sp>
        <p:nvSpPr>
          <p:cNvPr id="849" name="Google Shape;849;p14"/>
          <p:cNvSpPr/>
          <p:nvPr/>
        </p:nvSpPr>
        <p:spPr>
          <a:xfrm>
            <a:off x="6035040" y="141732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4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4"/>
          <p:cNvSpPr txBox="1"/>
          <p:nvPr/>
        </p:nvSpPr>
        <p:spPr>
          <a:xfrm>
            <a:off x="6108192" y="14264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LOE Timing</a:t>
            </a:r>
            <a:endParaRPr/>
          </a:p>
        </p:txBody>
      </p:sp>
      <p:sp>
        <p:nvSpPr>
          <p:cNvPr id="852" name="Google Shape;852;p14"/>
          <p:cNvSpPr txBox="1"/>
          <p:nvPr/>
        </p:nvSpPr>
        <p:spPr>
          <a:xfrm>
            <a:off x="7772400" y="1435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15%</a:t>
            </a:r>
            <a:endParaRPr/>
          </a:p>
        </p:txBody>
      </p:sp>
      <p:sp>
        <p:nvSpPr>
          <p:cNvPr id="853" name="Google Shape;853;p14"/>
          <p:cNvSpPr txBox="1"/>
          <p:nvPr/>
        </p:nvSpPr>
        <p:spPr>
          <a:xfrm>
            <a:off x="6126479" y="1737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/>
          </a:p>
        </p:txBody>
      </p:sp>
      <p:sp>
        <p:nvSpPr>
          <p:cNvPr id="854" name="Google Shape;854;p14"/>
          <p:cNvSpPr txBox="1"/>
          <p:nvPr/>
        </p:nvSpPr>
        <p:spPr>
          <a:xfrm>
            <a:off x="6126479" y="205740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LOE passed (EU 2024, US 2025); immediate window</a:t>
            </a:r>
            <a:endParaRPr/>
          </a:p>
        </p:txBody>
      </p:sp>
      <p:sp>
        <p:nvSpPr>
          <p:cNvPr id="855" name="Google Shape;855;p14"/>
          <p:cNvSpPr/>
          <p:nvPr/>
        </p:nvSpPr>
        <p:spPr>
          <a:xfrm>
            <a:off x="8778240" y="141732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4"/>
          <p:cNvSpPr/>
          <p:nvPr/>
        </p:nvSpPr>
        <p:spPr>
          <a:xfrm>
            <a:off x="8778240" y="141732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 txBox="1"/>
          <p:nvPr/>
        </p:nvSpPr>
        <p:spPr>
          <a:xfrm>
            <a:off x="8851392" y="14264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Competition</a:t>
            </a:r>
            <a:b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Intensity</a:t>
            </a:r>
            <a:endParaRPr/>
          </a:p>
        </p:txBody>
      </p:sp>
      <p:sp>
        <p:nvSpPr>
          <p:cNvPr id="858" name="Google Shape;858;p14"/>
          <p:cNvSpPr txBox="1"/>
          <p:nvPr/>
        </p:nvSpPr>
        <p:spPr>
          <a:xfrm>
            <a:off x="10515600" y="1435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15%</a:t>
            </a:r>
            <a:endParaRPr/>
          </a:p>
        </p:txBody>
      </p:sp>
      <p:sp>
        <p:nvSpPr>
          <p:cNvPr id="859" name="Google Shape;859;p14"/>
          <p:cNvSpPr txBox="1"/>
          <p:nvPr/>
        </p:nvSpPr>
        <p:spPr>
          <a:xfrm>
            <a:off x="8869680" y="1737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/>
          </a:p>
        </p:txBody>
      </p:sp>
      <p:sp>
        <p:nvSpPr>
          <p:cNvPr id="860" name="Google Shape;860;p14"/>
          <p:cNvSpPr txBox="1"/>
          <p:nvPr/>
        </p:nvSpPr>
        <p:spPr>
          <a:xfrm>
            <a:off x="8869680" y="205740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7 competitors; 3 in Phase 3; medium-high density</a:t>
            </a:r>
            <a:endParaRPr/>
          </a:p>
        </p:txBody>
      </p:sp>
      <p:sp>
        <p:nvSpPr>
          <p:cNvPr id="861" name="Google Shape;861;p14"/>
          <p:cNvSpPr/>
          <p:nvPr/>
        </p:nvSpPr>
        <p:spPr>
          <a:xfrm>
            <a:off x="548640" y="265176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4"/>
          <p:cNvSpPr/>
          <p:nvPr/>
        </p:nvSpPr>
        <p:spPr>
          <a:xfrm>
            <a:off x="548640" y="265176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4"/>
          <p:cNvSpPr txBox="1"/>
          <p:nvPr/>
        </p:nvSpPr>
        <p:spPr>
          <a:xfrm>
            <a:off x="621792" y="26609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Fit</a:t>
            </a:r>
            <a:endParaRPr/>
          </a:p>
        </p:txBody>
      </p:sp>
      <p:sp>
        <p:nvSpPr>
          <p:cNvPr id="864" name="Google Shape;864;p14"/>
          <p:cNvSpPr txBox="1"/>
          <p:nvPr/>
        </p:nvSpPr>
        <p:spPr>
          <a:xfrm>
            <a:off x="2286000" y="26700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10%</a:t>
            </a:r>
            <a:endParaRPr/>
          </a:p>
        </p:txBody>
      </p:sp>
      <p:sp>
        <p:nvSpPr>
          <p:cNvPr id="865" name="Google Shape;865;p14"/>
          <p:cNvSpPr txBox="1"/>
          <p:nvPr/>
        </p:nvSpPr>
        <p:spPr>
          <a:xfrm>
            <a:off x="64008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/>
          </a:p>
        </p:txBody>
      </p:sp>
      <p:sp>
        <p:nvSpPr>
          <p:cNvPr id="866" name="Google Shape;866;p14"/>
          <p:cNvSpPr txBox="1"/>
          <p:nvPr/>
        </p:nvSpPr>
        <p:spPr>
          <a:xfrm>
            <a:off x="640080" y="329184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Strong mAb platform alignment; SC delivery capability</a:t>
            </a:r>
            <a:endParaRPr/>
          </a:p>
        </p:txBody>
      </p:sp>
      <p:sp>
        <p:nvSpPr>
          <p:cNvPr id="867" name="Google Shape;867;p14"/>
          <p:cNvSpPr/>
          <p:nvPr/>
        </p:nvSpPr>
        <p:spPr>
          <a:xfrm>
            <a:off x="3291840" y="265176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4"/>
          <p:cNvSpPr/>
          <p:nvPr/>
        </p:nvSpPr>
        <p:spPr>
          <a:xfrm>
            <a:off x="3291840" y="265176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4"/>
          <p:cNvSpPr txBox="1"/>
          <p:nvPr/>
        </p:nvSpPr>
        <p:spPr>
          <a:xfrm>
            <a:off x="3364992" y="26609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b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/>
          </a:p>
        </p:txBody>
      </p:sp>
      <p:sp>
        <p:nvSpPr>
          <p:cNvPr id="870" name="Google Shape;870;p14"/>
          <p:cNvSpPr txBox="1"/>
          <p:nvPr/>
        </p:nvSpPr>
        <p:spPr>
          <a:xfrm>
            <a:off x="5029200" y="26700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10%</a:t>
            </a:r>
            <a:endParaRPr/>
          </a:p>
        </p:txBody>
      </p:sp>
      <p:sp>
        <p:nvSpPr>
          <p:cNvPr id="871" name="Google Shape;871;p14"/>
          <p:cNvSpPr txBox="1"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/>
          </a:p>
        </p:txBody>
      </p:sp>
      <p:sp>
        <p:nvSpPr>
          <p:cNvPr id="872" name="Google Shape;872;p14"/>
          <p:cNvSpPr txBox="1"/>
          <p:nvPr/>
        </p:nvSpPr>
        <p:spPr>
          <a:xfrm>
            <a:off x="3383280" y="329184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Standard CHO process; medium glycosylation complexity</a:t>
            </a:r>
            <a:endParaRPr/>
          </a:p>
        </p:txBody>
      </p:sp>
      <p:sp>
        <p:nvSpPr>
          <p:cNvPr id="873" name="Google Shape;873;p14"/>
          <p:cNvSpPr/>
          <p:nvPr/>
        </p:nvSpPr>
        <p:spPr>
          <a:xfrm>
            <a:off x="6035040" y="265176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4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4"/>
          <p:cNvSpPr txBox="1"/>
          <p:nvPr/>
        </p:nvSpPr>
        <p:spPr>
          <a:xfrm>
            <a:off x="6108192" y="26609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Patent / IP</a:t>
            </a:r>
            <a:b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Clarity</a:t>
            </a:r>
            <a:endParaRPr/>
          </a:p>
        </p:txBody>
      </p:sp>
      <p:sp>
        <p:nvSpPr>
          <p:cNvPr id="876" name="Google Shape;876;p14"/>
          <p:cNvSpPr txBox="1"/>
          <p:nvPr/>
        </p:nvSpPr>
        <p:spPr>
          <a:xfrm>
            <a:off x="7772400" y="26700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10%</a:t>
            </a:r>
            <a:endParaRPr/>
          </a:p>
        </p:txBody>
      </p:sp>
      <p:sp>
        <p:nvSpPr>
          <p:cNvPr id="877" name="Google Shape;877;p14"/>
          <p:cNvSpPr txBox="1"/>
          <p:nvPr/>
        </p:nvSpPr>
        <p:spPr>
          <a:xfrm>
            <a:off x="6126479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/>
          </a:p>
        </p:txBody>
      </p:sp>
      <p:sp>
        <p:nvSpPr>
          <p:cNvPr id="878" name="Google Shape;878;p14"/>
          <p:cNvSpPr txBox="1"/>
          <p:nvPr/>
        </p:nvSpPr>
        <p:spPr>
          <a:xfrm>
            <a:off x="6126479" y="329184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Comp. patent expired; UC &amp; device patents active</a:t>
            </a:r>
            <a:endParaRPr/>
          </a:p>
        </p:txBody>
      </p:sp>
      <p:sp>
        <p:nvSpPr>
          <p:cNvPr id="879" name="Google Shape;879;p14"/>
          <p:cNvSpPr/>
          <p:nvPr/>
        </p:nvSpPr>
        <p:spPr>
          <a:xfrm>
            <a:off x="8778240" y="2651760"/>
            <a:ext cx="2651760" cy="1143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4"/>
          <p:cNvSpPr/>
          <p:nvPr/>
        </p:nvSpPr>
        <p:spPr>
          <a:xfrm>
            <a:off x="8778240" y="2651760"/>
            <a:ext cx="2651760" cy="274320"/>
          </a:xfrm>
          <a:prstGeom prst="rect">
            <a:avLst/>
          </a:prstGeom>
          <a:solidFill>
            <a:srgbClr val="1A5C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4"/>
          <p:cNvSpPr txBox="1"/>
          <p:nvPr/>
        </p:nvSpPr>
        <p:spPr>
          <a:xfrm>
            <a:off x="8851392" y="26609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</a:t>
            </a:r>
            <a:b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</a:t>
            </a:r>
            <a:endParaRPr/>
          </a:p>
        </p:txBody>
      </p:sp>
      <p:sp>
        <p:nvSpPr>
          <p:cNvPr id="882" name="Google Shape;882;p14"/>
          <p:cNvSpPr txBox="1"/>
          <p:nvPr/>
        </p:nvSpPr>
        <p:spPr>
          <a:xfrm>
            <a:off x="10515600" y="26700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B8CCE4"/>
                </a:solidFill>
                <a:latin typeface="Calibri"/>
                <a:ea typeface="Calibri"/>
                <a:cs typeface="Calibri"/>
                <a:sym typeface="Calibri"/>
              </a:rPr>
              <a:t>Wt: 10%</a:t>
            </a:r>
            <a:endParaRPr/>
          </a:p>
        </p:txBody>
      </p:sp>
      <p:sp>
        <p:nvSpPr>
          <p:cNvPr id="883" name="Google Shape;883;p14"/>
          <p:cNvSpPr txBox="1"/>
          <p:nvPr/>
        </p:nvSpPr>
        <p:spPr>
          <a:xfrm>
            <a:off x="8869680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/>
          </a:p>
        </p:txBody>
      </p:sp>
      <p:sp>
        <p:nvSpPr>
          <p:cNvPr id="884" name="Google Shape;884;p14"/>
          <p:cNvSpPr txBox="1"/>
          <p:nvPr/>
        </p:nvSpPr>
        <p:spPr>
          <a:xfrm>
            <a:off x="8869680" y="329184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Clear 351(k)/EMA pathway; psoriasis indication</a:t>
            </a:r>
            <a:endParaRPr/>
          </a:p>
        </p:txBody>
      </p:sp>
      <p:sp>
        <p:nvSpPr>
          <p:cNvPr id="885" name="Google Shape;885;p14"/>
          <p:cNvSpPr/>
          <p:nvPr/>
        </p:nvSpPr>
        <p:spPr>
          <a:xfrm>
            <a:off x="548640" y="3931920"/>
            <a:ext cx="11064240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4"/>
          <p:cNvSpPr txBox="1"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Total = (MktSize×0.20) + (Growth×0.10) + (LOE×0.15) + (Comp×0.15) + (Fit×0.10) + (Tech×0.10) + (IP×0.10) + (Reg×0.10)</a:t>
            </a:r>
            <a:endParaRPr/>
          </a:p>
        </p:txBody>
      </p:sp>
      <p:sp>
        <p:nvSpPr>
          <p:cNvPr id="887" name="Google Shape;887;p14"/>
          <p:cNvSpPr/>
          <p:nvPr/>
        </p:nvSpPr>
        <p:spPr>
          <a:xfrm>
            <a:off x="548640" y="4389120"/>
            <a:ext cx="5029200" cy="685800"/>
          </a:xfrm>
          <a:prstGeom prst="rect">
            <a:avLst/>
          </a:prstGeom>
          <a:solidFill>
            <a:srgbClr val="E8EFF5"/>
          </a:solidFill>
          <a:ln cap="flat" cmpd="sng" w="12700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4"/>
          <p:cNvSpPr txBox="1"/>
          <p:nvPr/>
        </p:nvSpPr>
        <p:spPr>
          <a:xfrm>
            <a:off x="685800" y="44348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TOTAL WEIGHTED SCORE</a:t>
            </a:r>
            <a:endParaRPr/>
          </a:p>
        </p:txBody>
      </p:sp>
      <p:sp>
        <p:nvSpPr>
          <p:cNvPr id="889" name="Google Shape;889;p14"/>
          <p:cNvSpPr txBox="1"/>
          <p:nvPr/>
        </p:nvSpPr>
        <p:spPr>
          <a:xfrm>
            <a:off x="3474720" y="438912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4.00</a:t>
            </a:r>
            <a:endParaRPr/>
          </a:p>
        </p:txBody>
      </p:sp>
      <p:sp>
        <p:nvSpPr>
          <p:cNvPr id="890" name="Google Shape;890;p14"/>
          <p:cNvSpPr/>
          <p:nvPr/>
        </p:nvSpPr>
        <p:spPr>
          <a:xfrm>
            <a:off x="5943600" y="4389120"/>
            <a:ext cx="3200400" cy="685800"/>
          </a:xfrm>
          <a:prstGeom prst="roundRect">
            <a:avLst>
              <a:gd fmla="val 16667" name="adj"/>
            </a:avLst>
          </a:prstGeom>
          <a:solidFill>
            <a:srgbClr val="28A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4"/>
          <p:cNvSpPr txBox="1"/>
          <p:nvPr/>
        </p:nvSpPr>
        <p:spPr>
          <a:xfrm>
            <a:off x="5943600" y="44348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PROCEED</a:t>
            </a:r>
            <a:endParaRPr/>
          </a:p>
        </p:txBody>
      </p:sp>
      <p:sp>
        <p:nvSpPr>
          <p:cNvPr id="892" name="Google Shape;892;p14"/>
          <p:cNvSpPr txBox="1"/>
          <p:nvPr/>
        </p:nvSpPr>
        <p:spPr>
          <a:xfrm>
            <a:off x="9418320" y="44348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Thresholds:</a:t>
            </a:r>
            <a:b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≥ 4.0 = PROCEED</a:t>
            </a:r>
            <a:b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3.0 – 3.99 = WATCH</a:t>
            </a:r>
            <a:b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&lt; 3.0 = PASS</a:t>
            </a:r>
            <a:endParaRPr/>
          </a:p>
        </p:txBody>
      </p:sp>
      <p:sp>
        <p:nvSpPr>
          <p:cNvPr id="893" name="Google Shape;893;p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4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5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 &amp; Business Case Handoff</a:t>
            </a:r>
            <a:endParaRPr/>
          </a:p>
        </p:txBody>
      </p:sp>
      <p:sp>
        <p:nvSpPr>
          <p:cNvPr id="901" name="Google Shape;901;p1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5"/>
          <p:cNvSpPr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5"/>
          <p:cNvSpPr txBox="1"/>
          <p:nvPr/>
        </p:nvSpPr>
        <p:spPr>
          <a:xfrm>
            <a:off x="685800" y="10698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Recommended Next Steps</a:t>
            </a:r>
            <a:endParaRPr/>
          </a:p>
        </p:txBody>
      </p:sp>
      <p:sp>
        <p:nvSpPr>
          <p:cNvPr id="904" name="Google Shape;904;p15"/>
          <p:cNvSpPr txBox="1"/>
          <p:nvPr/>
        </p:nvSpPr>
        <p:spPr>
          <a:xfrm>
            <a:off x="685800" y="15087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Initiate detailed business case analysis for ustekinumab biosimilar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Schedule deep-dive with R&amp;D on CHO platform &amp; glycosylation strategy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Commission CMC assessment: analytical similarity &amp; formulation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Engage Regulatory for 351(k) / EMA biosimilar pathway pre-submission meetings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Complete FTO analysis for UC method-of-use and device patents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Prepare Investment Committee presentation with rNPV model</a:t>
            </a:r>
            <a:endParaRPr/>
          </a:p>
        </p:txBody>
      </p:sp>
      <p:sp>
        <p:nvSpPr>
          <p:cNvPr id="905" name="Google Shape;905;p15"/>
          <p:cNvSpPr/>
          <p:nvPr/>
        </p:nvSpPr>
        <p:spPr>
          <a:xfrm>
            <a:off x="548640" y="2788920"/>
            <a:ext cx="530352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5"/>
          <p:cNvSpPr txBox="1"/>
          <p:nvPr/>
        </p:nvSpPr>
        <p:spPr>
          <a:xfrm>
            <a:off x="685800" y="28072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Decision Gate Criteria</a:t>
            </a:r>
            <a:endParaRPr/>
          </a:p>
        </p:txBody>
      </p:sp>
      <p:sp>
        <p:nvSpPr>
          <p:cNvPr id="907" name="Google Shape;907;p15"/>
          <p:cNvSpPr txBox="1"/>
          <p:nvPr/>
        </p:nvSpPr>
        <p:spPr>
          <a:xfrm>
            <a:off x="685800" y="31089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Weighted score ≥ 4.0 on 8-criteria scorecard (achieved: 4.00)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NPV positive under base-case assumptions (achieved: $385M)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Acceptable risk profile (achieved: MEDIUM, no critical unmitigated risks)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Technical feasibility confirmed by R&amp;D assessment (pending)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IP freedom-to-operate established for primary indications (pending)</a:t>
            </a:r>
            <a:endParaRPr/>
          </a:p>
        </p:txBody>
      </p:sp>
      <p:sp>
        <p:nvSpPr>
          <p:cNvPr id="908" name="Google Shape;908;p15"/>
          <p:cNvSpPr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5"/>
          <p:cNvSpPr txBox="1"/>
          <p:nvPr/>
        </p:nvSpPr>
        <p:spPr>
          <a:xfrm>
            <a:off x="6355080" y="106984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Inputs for Business Case</a:t>
            </a:r>
            <a:endParaRPr/>
          </a:p>
        </p:txBody>
      </p:sp>
      <p:sp>
        <p:nvSpPr>
          <p:cNvPr id="910" name="Google Shape;910;p15"/>
          <p:cNvSpPr txBox="1"/>
          <p:nvPr/>
        </p:nvSpPr>
        <p:spPr>
          <a:xfrm>
            <a:off x="6355080" y="15087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Target launch date: EU Q1 2028, US Q3 2028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Target geographies: US, EU5, Japan, LatAm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Expected development timeline: 5.5 years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Estimated development cost: $135M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Expected biosimilar discount: 25–40%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Revenue forecast period: 10 years post-launch</a:t>
            </a:r>
            <a:endParaRPr/>
          </a:p>
        </p:txBody>
      </p:sp>
      <p:sp>
        <p:nvSpPr>
          <p:cNvPr id="911" name="Google Shape;911;p15"/>
          <p:cNvSpPr/>
          <p:nvPr/>
        </p:nvSpPr>
        <p:spPr>
          <a:xfrm>
            <a:off x="6217920" y="278892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5"/>
          <p:cNvSpPr txBox="1"/>
          <p:nvPr/>
        </p:nvSpPr>
        <p:spPr>
          <a:xfrm>
            <a:off x="6355080" y="280720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Handoff Checklist</a:t>
            </a:r>
            <a:endParaRPr/>
          </a:p>
        </p:txBody>
      </p:sp>
      <p:sp>
        <p:nvSpPr>
          <p:cNvPr id="913" name="Google Shape;913;p15"/>
          <p:cNvSpPr txBox="1"/>
          <p:nvPr/>
        </p:nvSpPr>
        <p:spPr>
          <a:xfrm>
            <a:off x="6355080" y="31089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[✓] Market assessment report finalized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[✓] Competitive intelligence package prepared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[ ] Patent landscape analysis completed (in progress)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[ ] Preliminary CMC assessment available (scheduled Q2 2026)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[ ] Financial model template populated (pending R&amp;D inputs)</a:t>
            </a:r>
            <a:endParaRPr/>
          </a:p>
        </p:txBody>
      </p:sp>
      <p:sp>
        <p:nvSpPr>
          <p:cNvPr id="914" name="Google Shape;914;p15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5"/>
          <p:cNvSpPr txBox="1"/>
          <p:nvPr/>
        </p:nvSpPr>
        <p:spPr>
          <a:xfrm>
            <a:off x="685800" y="4133087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Indicative Timeline</a:t>
            </a:r>
            <a:endParaRPr/>
          </a:p>
        </p:txBody>
      </p:sp>
      <p:graphicFrame>
        <p:nvGraphicFramePr>
          <p:cNvPr id="916" name="Google Shape;916;p15"/>
          <p:cNvGraphicFramePr/>
          <p:nvPr/>
        </p:nvGraphicFramePr>
        <p:xfrm>
          <a:off x="548640" y="4434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{3312D39C-8665-442B-B3E5-61FEFC9E891A}</a:tableStyleId>
              </a:tblPr>
              <a:tblGrid>
                <a:gridCol w="3657600"/>
                <a:gridCol w="2286000"/>
                <a:gridCol w="2560325"/>
                <a:gridCol w="2560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Milestone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Date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0336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case development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 Manager (T. Martins)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Progress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R&amp;D feasibility assessment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R&amp;D Lead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Scheduled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 evaluation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CMC Lead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 pathway review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Jul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 Lead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Investment Committee review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 Manager (T. Martins)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 / No-Go decision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 / Senior Management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5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6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Appendix: Sources, Methodology &amp; Glossary</a:t>
            </a:r>
            <a:endParaRPr/>
          </a:p>
        </p:txBody>
      </p:sp>
      <p:sp>
        <p:nvSpPr>
          <p:cNvPr id="925" name="Google Shape;925;p16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CC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6"/>
          <p:cNvSpPr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6"/>
          <p:cNvSpPr txBox="1"/>
          <p:nvPr/>
        </p:nvSpPr>
        <p:spPr>
          <a:xfrm>
            <a:off x="685800" y="10698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Primary Data Sources</a:t>
            </a:r>
            <a:endParaRPr/>
          </a:p>
        </p:txBody>
      </p:sp>
      <p:sp>
        <p:nvSpPr>
          <p:cNvPr id="928" name="Google Shape;928;p16"/>
          <p:cNvSpPr txBox="1"/>
          <p:nvPr/>
        </p:nvSpPr>
        <p:spPr>
          <a:xfrm>
            <a:off x="685800" y="15087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IQVIA Analytics Link: global market data, volume, value trends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Informa Pharma Intelligence: pipeline and competitive intelligence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J&amp;J / Janssen filings: SEC 10-K, investor presentations, press releases</a:t>
            </a:r>
            <a:endParaRPr/>
          </a:p>
        </p:txBody>
      </p:sp>
      <p:sp>
        <p:nvSpPr>
          <p:cNvPr id="929" name="Google Shape;929;p16"/>
          <p:cNvSpPr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6"/>
          <p:cNvSpPr txBox="1"/>
          <p:nvPr/>
        </p:nvSpPr>
        <p:spPr>
          <a:xfrm>
            <a:off x="6355080" y="106984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Additional Data Sources</a:t>
            </a:r>
            <a:endParaRPr/>
          </a:p>
        </p:txBody>
      </p:sp>
      <p:sp>
        <p:nvSpPr>
          <p:cNvPr id="931" name="Google Shape;931;p16"/>
          <p:cNvSpPr txBox="1"/>
          <p:nvPr/>
        </p:nvSpPr>
        <p:spPr>
          <a:xfrm>
            <a:off x="6355080" y="15087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Evaluate Pharma: consensus forecasts and NPV estimates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Cortellis Competitive Intelligence: biosimilar pipeline tracking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USPTO / EPO / Derwent Innovation: patent landscape analysis</a:t>
            </a:r>
            <a:endParaRPr/>
          </a:p>
        </p:txBody>
      </p:sp>
      <p:sp>
        <p:nvSpPr>
          <p:cNvPr id="932" name="Google Shape;932;p16"/>
          <p:cNvSpPr/>
          <p:nvPr/>
        </p:nvSpPr>
        <p:spPr>
          <a:xfrm>
            <a:off x="548640" y="2606040"/>
            <a:ext cx="11064240" cy="320040"/>
          </a:xfrm>
          <a:prstGeom prst="rect">
            <a:avLst/>
          </a:prstGeom>
          <a:solidFill>
            <a:srgbClr val="E8EF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6"/>
          <p:cNvSpPr txBox="1"/>
          <p:nvPr/>
        </p:nvSpPr>
        <p:spPr>
          <a:xfrm>
            <a:off x="685800" y="2624328"/>
            <a:ext cx="1078991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Scoring Methodology</a:t>
            </a:r>
            <a:endParaRPr/>
          </a:p>
        </p:txBody>
      </p:sp>
      <p:sp>
        <p:nvSpPr>
          <p:cNvPr id="934" name="Google Shape;934;p16"/>
          <p:cNvSpPr txBox="1"/>
          <p:nvPr/>
        </p:nvSpPr>
        <p:spPr>
          <a:xfrm>
            <a:off x="685800" y="30175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= (MktSize×0.20) + (Growth×0.10) + (LOE×0.15) + (Comp×0.15) + (Fit×0.10) + (Tech×0.10) + (IP×0.10) + (Reg×0.10)</a:t>
            </a:r>
            <a:endParaRPr/>
          </a:p>
        </p:txBody>
      </p:sp>
      <p:sp>
        <p:nvSpPr>
          <p:cNvPr id="935" name="Google Shape;935;p16"/>
          <p:cNvSpPr txBox="1"/>
          <p:nvPr/>
        </p:nvSpPr>
        <p:spPr>
          <a:xfrm>
            <a:off x="685800" y="3337560"/>
            <a:ext cx="10789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8 criteria: Market Size (20%), Market Growth (10%), LOE Timing (15%), Competition Intensity (15%), Strategic Fit (10%), Technical Feasibility (10%), Patent/IP Clarity (10%), Regulatory Pathway (10%)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Each criterion scored 1–5 (1 = least favorable, 5 = most favorable)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Decision thresholds: PROCEED (≥ 4.0), WATCH (3.0–3.99), PASS (&lt; 3.0)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Market data as of Q4 2025; LOE dates based on latest patent expiry information</a:t>
            </a:r>
            <a:endParaRPr/>
          </a:p>
        </p:txBody>
      </p:sp>
      <p:sp>
        <p:nvSpPr>
          <p:cNvPr id="936" name="Google Shape;936;p16"/>
          <p:cNvSpPr/>
          <p:nvPr/>
        </p:nvSpPr>
        <p:spPr>
          <a:xfrm>
            <a:off x="548640" y="4572000"/>
            <a:ext cx="11064240" cy="59436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B8C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6"/>
          <p:cNvSpPr txBox="1"/>
          <p:nvPr/>
        </p:nvSpPr>
        <p:spPr>
          <a:xfrm>
            <a:off x="685800" y="46177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Glossary:</a:t>
            </a:r>
            <a:endParaRPr/>
          </a:p>
        </p:txBody>
      </p:sp>
      <p:sp>
        <p:nvSpPr>
          <p:cNvPr id="938" name="Google Shape;938;p16"/>
          <p:cNvSpPr txBox="1"/>
          <p:nvPr/>
        </p:nvSpPr>
        <p:spPr>
          <a:xfrm>
            <a:off x="685800" y="482803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LOE = Loss of Exclusivity  |  CAGR = Compound Annual Growth Rate  |  WAC = Wholesale Acquisition Cost  |  FTO = Freedom to Operate  |  CMC = Chemistry, Manufacturing &amp; Controls  |  NPV = Net Present Value  |  IRR = Internal Rate of Return  |  BPCIA = Biologics Price Competition and Innovation Act</a:t>
            </a:r>
            <a:endParaRPr/>
          </a:p>
        </p:txBody>
      </p:sp>
      <p:sp>
        <p:nvSpPr>
          <p:cNvPr id="939" name="Google Shape;939;p16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6"/>
          <p:cNvSpPr txBox="1"/>
          <p:nvPr/>
        </p:nvSpPr>
        <p:spPr>
          <a:xfrm>
            <a:off x="685800" y="54864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Disclaimer: This document contains proprietary analysis by Mabxience Business Intelligence. Market data sourced from IQVIA Analytics Link, Informa Pharma Intelligence, and other third-party databases. All projections and recommendations are for internal use only and subject to further validation. This document is confidential and should not be distributed externally.</a:t>
            </a:r>
            <a:endParaRPr/>
          </a:p>
        </p:txBody>
      </p:sp>
      <p:sp>
        <p:nvSpPr>
          <p:cNvPr id="941" name="Google Shape;941;p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6"/>
          <p:cNvSpPr txBox="1"/>
          <p:nvPr/>
        </p:nvSpPr>
        <p:spPr>
          <a:xfrm>
            <a:off x="457200" y="6473952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Mabxience  |  Business Intelligence  |  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